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3" r:id="rId3"/>
    <p:sldId id="274" r:id="rId4"/>
    <p:sldId id="275" r:id="rId5"/>
    <p:sldId id="276" r:id="rId6"/>
    <p:sldId id="277" r:id="rId7"/>
    <p:sldId id="280" r:id="rId8"/>
    <p:sldId id="299" r:id="rId9"/>
    <p:sldId id="281" r:id="rId10"/>
    <p:sldId id="282" r:id="rId11"/>
    <p:sldId id="285" r:id="rId12"/>
    <p:sldId id="286" r:id="rId13"/>
    <p:sldId id="297" r:id="rId14"/>
    <p:sldId id="287" r:id="rId15"/>
    <p:sldId id="288" r:id="rId16"/>
    <p:sldId id="289" r:id="rId17"/>
    <p:sldId id="290" r:id="rId18"/>
    <p:sldId id="291" r:id="rId19"/>
    <p:sldId id="292" r:id="rId20"/>
    <p:sldId id="293" r:id="rId21"/>
    <p:sldId id="296" r:id="rId22"/>
    <p:sldId id="294" r:id="rId23"/>
  </p:sldIdLst>
  <p:sldSz cx="12192000" cy="6858000"/>
  <p:notesSz cx="6858000" cy="9144000"/>
  <p:defaultText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9" autoAdjust="0"/>
    <p:restoredTop sz="94660"/>
  </p:normalViewPr>
  <p:slideViewPr>
    <p:cSldViewPr snapToGrid="0">
      <p:cViewPr varScale="1">
        <p:scale>
          <a:sx n="78" d="100"/>
          <a:sy n="78" d="100"/>
        </p:scale>
        <p:origin x="941"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26C79A-FF37-7E2E-9A3A-0A7F7D014EA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KZ"/>
          </a:p>
        </p:txBody>
      </p:sp>
      <p:sp>
        <p:nvSpPr>
          <p:cNvPr id="3" name="Подзаголовок 2">
            <a:extLst>
              <a:ext uri="{FF2B5EF4-FFF2-40B4-BE49-F238E27FC236}">
                <a16:creationId xmlns:a16="http://schemas.microsoft.com/office/drawing/2014/main" id="{F850AA26-5685-3609-F170-0FFDCC3800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KZ"/>
          </a:p>
        </p:txBody>
      </p:sp>
      <p:sp>
        <p:nvSpPr>
          <p:cNvPr id="4" name="Дата 3">
            <a:extLst>
              <a:ext uri="{FF2B5EF4-FFF2-40B4-BE49-F238E27FC236}">
                <a16:creationId xmlns:a16="http://schemas.microsoft.com/office/drawing/2014/main" id="{335D6132-25F3-0C80-F9A3-01039BB160F8}"/>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4AC35A21-D344-0996-2C7D-AE2D9C788E4F}"/>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809E19A7-89D4-5A3D-6A13-C5F19A0FC771}"/>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1564520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C45B19-09A2-6A18-9FF2-A45DB8A8DC52}"/>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id="{77BBF281-F9CB-98BE-EB92-4A25F64C857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D083EF30-4245-02D7-9AC4-D45C5D240A9F}"/>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4E271440-14A9-7A14-F676-4505B96788AA}"/>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A3621C2E-3508-F252-E232-13A6B818C50C}"/>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3043224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85716-3565-864B-3120-E7F2F930939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KZ"/>
          </a:p>
        </p:txBody>
      </p:sp>
      <p:sp>
        <p:nvSpPr>
          <p:cNvPr id="3" name="Текст 2">
            <a:extLst>
              <a:ext uri="{FF2B5EF4-FFF2-40B4-BE49-F238E27FC236}">
                <a16:creationId xmlns:a16="http://schemas.microsoft.com/office/drawing/2014/main" id="{17426F58-A379-295E-ADB3-085B4A61F1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5ED5747-7DF9-ED9C-7E70-DE46FC569E2C}"/>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BDB9A04F-5367-8A65-87E0-33534646F5B2}"/>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F1794170-1E4B-EFBF-BD24-FFCEDB52162A}"/>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328576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6B6486-5A37-AE32-8DA7-B5E796D452DF}"/>
              </a:ext>
            </a:extLst>
          </p:cNvPr>
          <p:cNvSpPr>
            <a:spLocks noGrp="1"/>
          </p:cNvSpPr>
          <p:nvPr>
            <p:ph type="title"/>
          </p:nvPr>
        </p:nvSpPr>
        <p:spPr/>
        <p:txBody>
          <a:bodyPr/>
          <a:lstStyle/>
          <a:p>
            <a:r>
              <a:rPr lang="ru-RU"/>
              <a:t>Образец заголовка</a:t>
            </a:r>
            <a:endParaRPr lang="ru-KZ"/>
          </a:p>
        </p:txBody>
      </p:sp>
      <p:sp>
        <p:nvSpPr>
          <p:cNvPr id="3" name="Объект 2">
            <a:extLst>
              <a:ext uri="{FF2B5EF4-FFF2-40B4-BE49-F238E27FC236}">
                <a16:creationId xmlns:a16="http://schemas.microsoft.com/office/drawing/2014/main" id="{8C98E09E-9DEA-B8D8-1D43-BE0473DE526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Объект 3">
            <a:extLst>
              <a:ext uri="{FF2B5EF4-FFF2-40B4-BE49-F238E27FC236}">
                <a16:creationId xmlns:a16="http://schemas.microsoft.com/office/drawing/2014/main" id="{29CA0EB2-FEE3-996A-5A06-2B27D5CC774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Дата 4">
            <a:extLst>
              <a:ext uri="{FF2B5EF4-FFF2-40B4-BE49-F238E27FC236}">
                <a16:creationId xmlns:a16="http://schemas.microsoft.com/office/drawing/2014/main" id="{0D507319-B248-185F-1325-8B15299A8846}"/>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6" name="Нижний колонтитул 5">
            <a:extLst>
              <a:ext uri="{FF2B5EF4-FFF2-40B4-BE49-F238E27FC236}">
                <a16:creationId xmlns:a16="http://schemas.microsoft.com/office/drawing/2014/main" id="{153056CB-C51F-524F-B952-81E60392C26E}"/>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FC02249A-ECF3-D2E6-72D0-704637CD70FB}"/>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317954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EB347F-F14E-D211-0D9D-386267D88280}"/>
              </a:ext>
            </a:extLst>
          </p:cNvPr>
          <p:cNvSpPr>
            <a:spLocks noGrp="1"/>
          </p:cNvSpPr>
          <p:nvPr>
            <p:ph type="title"/>
          </p:nvPr>
        </p:nvSpPr>
        <p:spPr>
          <a:xfrm>
            <a:off x="839788" y="365125"/>
            <a:ext cx="10515600" cy="1325563"/>
          </a:xfrm>
        </p:spPr>
        <p:txBody>
          <a:bodyPr/>
          <a:lstStyle/>
          <a:p>
            <a:r>
              <a:rPr lang="ru-RU"/>
              <a:t>Образец заголовка</a:t>
            </a:r>
            <a:endParaRPr lang="ru-KZ"/>
          </a:p>
        </p:txBody>
      </p:sp>
      <p:sp>
        <p:nvSpPr>
          <p:cNvPr id="3" name="Текст 2">
            <a:extLst>
              <a:ext uri="{FF2B5EF4-FFF2-40B4-BE49-F238E27FC236}">
                <a16:creationId xmlns:a16="http://schemas.microsoft.com/office/drawing/2014/main" id="{A9C6F4F1-FE85-8A14-6CD1-C2410BFC56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3CF596F-1151-1FD4-AE43-A590BC8B867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5" name="Текст 4">
            <a:extLst>
              <a:ext uri="{FF2B5EF4-FFF2-40B4-BE49-F238E27FC236}">
                <a16:creationId xmlns:a16="http://schemas.microsoft.com/office/drawing/2014/main" id="{B99DC67E-A5B4-3642-5983-14BFF41D52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8979A85-55A3-527B-6691-39355C4F074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7" name="Дата 6">
            <a:extLst>
              <a:ext uri="{FF2B5EF4-FFF2-40B4-BE49-F238E27FC236}">
                <a16:creationId xmlns:a16="http://schemas.microsoft.com/office/drawing/2014/main" id="{9EEEA5ED-8DA2-0BD8-CB8D-AFBA51934C0B}"/>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8" name="Нижний колонтитул 7">
            <a:extLst>
              <a:ext uri="{FF2B5EF4-FFF2-40B4-BE49-F238E27FC236}">
                <a16:creationId xmlns:a16="http://schemas.microsoft.com/office/drawing/2014/main" id="{BFA2CE3E-AA7D-87C1-981F-3BEF78FBFFD1}"/>
              </a:ext>
            </a:extLst>
          </p:cNvPr>
          <p:cNvSpPr>
            <a:spLocks noGrp="1"/>
          </p:cNvSpPr>
          <p:nvPr>
            <p:ph type="ftr" sz="quarter" idx="11"/>
          </p:nvPr>
        </p:nvSpPr>
        <p:spPr/>
        <p:txBody>
          <a:bodyPr/>
          <a:lstStyle/>
          <a:p>
            <a:endParaRPr lang="ru-KZ"/>
          </a:p>
        </p:txBody>
      </p:sp>
      <p:sp>
        <p:nvSpPr>
          <p:cNvPr id="9" name="Номер слайда 8">
            <a:extLst>
              <a:ext uri="{FF2B5EF4-FFF2-40B4-BE49-F238E27FC236}">
                <a16:creationId xmlns:a16="http://schemas.microsoft.com/office/drawing/2014/main" id="{65717DF7-6295-BCC3-3C0C-DA1154CC99EE}"/>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1514998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22F7BD-6A95-E97C-C5CB-7AA2A87C743F}"/>
              </a:ext>
            </a:extLst>
          </p:cNvPr>
          <p:cNvSpPr>
            <a:spLocks noGrp="1"/>
          </p:cNvSpPr>
          <p:nvPr>
            <p:ph type="title"/>
          </p:nvPr>
        </p:nvSpPr>
        <p:spPr/>
        <p:txBody>
          <a:bodyPr/>
          <a:lstStyle/>
          <a:p>
            <a:r>
              <a:rPr lang="ru-RU"/>
              <a:t>Образец заголовка</a:t>
            </a:r>
            <a:endParaRPr lang="ru-KZ"/>
          </a:p>
        </p:txBody>
      </p:sp>
      <p:sp>
        <p:nvSpPr>
          <p:cNvPr id="3" name="Дата 2">
            <a:extLst>
              <a:ext uri="{FF2B5EF4-FFF2-40B4-BE49-F238E27FC236}">
                <a16:creationId xmlns:a16="http://schemas.microsoft.com/office/drawing/2014/main" id="{F2564E6C-AA05-2463-BBCE-07035F770B09}"/>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4" name="Нижний колонтитул 3">
            <a:extLst>
              <a:ext uri="{FF2B5EF4-FFF2-40B4-BE49-F238E27FC236}">
                <a16:creationId xmlns:a16="http://schemas.microsoft.com/office/drawing/2014/main" id="{1C582381-DEA5-87FF-1B4A-CD472CF7C41D}"/>
              </a:ext>
            </a:extLst>
          </p:cNvPr>
          <p:cNvSpPr>
            <a:spLocks noGrp="1"/>
          </p:cNvSpPr>
          <p:nvPr>
            <p:ph type="ftr" sz="quarter" idx="11"/>
          </p:nvPr>
        </p:nvSpPr>
        <p:spPr/>
        <p:txBody>
          <a:bodyPr/>
          <a:lstStyle/>
          <a:p>
            <a:endParaRPr lang="ru-KZ"/>
          </a:p>
        </p:txBody>
      </p:sp>
      <p:sp>
        <p:nvSpPr>
          <p:cNvPr id="5" name="Номер слайда 4">
            <a:extLst>
              <a:ext uri="{FF2B5EF4-FFF2-40B4-BE49-F238E27FC236}">
                <a16:creationId xmlns:a16="http://schemas.microsoft.com/office/drawing/2014/main" id="{AD38F022-F2ED-8410-5D64-8C821C7675B6}"/>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50871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2771A65-CEA3-350B-33F6-2515066FF9A2}"/>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3" name="Нижний колонтитул 2">
            <a:extLst>
              <a:ext uri="{FF2B5EF4-FFF2-40B4-BE49-F238E27FC236}">
                <a16:creationId xmlns:a16="http://schemas.microsoft.com/office/drawing/2014/main" id="{7324178C-BC95-67D1-0E5C-96C7D8C8DBA8}"/>
              </a:ext>
            </a:extLst>
          </p:cNvPr>
          <p:cNvSpPr>
            <a:spLocks noGrp="1"/>
          </p:cNvSpPr>
          <p:nvPr>
            <p:ph type="ftr" sz="quarter" idx="11"/>
          </p:nvPr>
        </p:nvSpPr>
        <p:spPr/>
        <p:txBody>
          <a:bodyPr/>
          <a:lstStyle/>
          <a:p>
            <a:endParaRPr lang="ru-KZ"/>
          </a:p>
        </p:txBody>
      </p:sp>
      <p:sp>
        <p:nvSpPr>
          <p:cNvPr id="4" name="Номер слайда 3">
            <a:extLst>
              <a:ext uri="{FF2B5EF4-FFF2-40B4-BE49-F238E27FC236}">
                <a16:creationId xmlns:a16="http://schemas.microsoft.com/office/drawing/2014/main" id="{E9823ACD-5F83-B89A-5481-9DD0244396C1}"/>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390762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7FB963-6FAB-D90A-4BA5-23B35CD7164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Объект 2">
            <a:extLst>
              <a:ext uri="{FF2B5EF4-FFF2-40B4-BE49-F238E27FC236}">
                <a16:creationId xmlns:a16="http://schemas.microsoft.com/office/drawing/2014/main" id="{B90AE6CD-D82D-D81B-939C-D23BC820B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Текст 3">
            <a:extLst>
              <a:ext uri="{FF2B5EF4-FFF2-40B4-BE49-F238E27FC236}">
                <a16:creationId xmlns:a16="http://schemas.microsoft.com/office/drawing/2014/main" id="{E1156F50-2792-70B3-4A04-00C4FFEEE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D65195A-701C-1350-1731-CA39ECC202D2}"/>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6" name="Нижний колонтитул 5">
            <a:extLst>
              <a:ext uri="{FF2B5EF4-FFF2-40B4-BE49-F238E27FC236}">
                <a16:creationId xmlns:a16="http://schemas.microsoft.com/office/drawing/2014/main" id="{FA730F9A-00E1-6CA6-3F91-94643D260EA2}"/>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CDACD825-66D9-7391-72D8-5EBD6D531231}"/>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1352318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48CAF8-BDBC-424D-A3B1-E0C901D9FEF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KZ"/>
          </a:p>
        </p:txBody>
      </p:sp>
      <p:sp>
        <p:nvSpPr>
          <p:cNvPr id="3" name="Рисунок 2">
            <a:extLst>
              <a:ext uri="{FF2B5EF4-FFF2-40B4-BE49-F238E27FC236}">
                <a16:creationId xmlns:a16="http://schemas.microsoft.com/office/drawing/2014/main" id="{4118A9C2-25B4-A822-3230-4052788DBF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KZ"/>
          </a:p>
        </p:txBody>
      </p:sp>
      <p:sp>
        <p:nvSpPr>
          <p:cNvPr id="4" name="Текст 3">
            <a:extLst>
              <a:ext uri="{FF2B5EF4-FFF2-40B4-BE49-F238E27FC236}">
                <a16:creationId xmlns:a16="http://schemas.microsoft.com/office/drawing/2014/main" id="{77EC3DEA-6775-30D3-7E48-B328EFFA1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F297DD4-7AA0-99AE-932B-D5181ED77D88}"/>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6" name="Нижний колонтитул 5">
            <a:extLst>
              <a:ext uri="{FF2B5EF4-FFF2-40B4-BE49-F238E27FC236}">
                <a16:creationId xmlns:a16="http://schemas.microsoft.com/office/drawing/2014/main" id="{3947C373-B89C-B23A-80C0-AD1EF390C912}"/>
              </a:ext>
            </a:extLst>
          </p:cNvPr>
          <p:cNvSpPr>
            <a:spLocks noGrp="1"/>
          </p:cNvSpPr>
          <p:nvPr>
            <p:ph type="ftr" sz="quarter" idx="11"/>
          </p:nvPr>
        </p:nvSpPr>
        <p:spPr/>
        <p:txBody>
          <a:bodyPr/>
          <a:lstStyle/>
          <a:p>
            <a:endParaRPr lang="ru-KZ"/>
          </a:p>
        </p:txBody>
      </p:sp>
      <p:sp>
        <p:nvSpPr>
          <p:cNvPr id="7" name="Номер слайда 6">
            <a:extLst>
              <a:ext uri="{FF2B5EF4-FFF2-40B4-BE49-F238E27FC236}">
                <a16:creationId xmlns:a16="http://schemas.microsoft.com/office/drawing/2014/main" id="{F14BE0F9-B7CB-FA6A-5919-C0A925D6FC3E}"/>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2800426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849AFD-F2ED-91A9-CBF3-FFBA313E028A}"/>
              </a:ext>
            </a:extLst>
          </p:cNvPr>
          <p:cNvSpPr>
            <a:spLocks noGrp="1"/>
          </p:cNvSpPr>
          <p:nvPr>
            <p:ph type="title"/>
          </p:nvPr>
        </p:nvSpPr>
        <p:spPr/>
        <p:txBody>
          <a:bodyPr/>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id="{1859EE30-BE82-CF8A-192E-C7CF27EC5D12}"/>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C62AF5AD-FBE9-B9BD-46F9-7206D3015B4F}"/>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88753800-FE1C-925F-DDC9-94DF9C12DEA3}"/>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D72BCF36-908B-D75E-EEC0-7D5491A0762A}"/>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2596648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7815EDB-8208-AA74-E850-8A8B43EDE74F}"/>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KZ"/>
          </a:p>
        </p:txBody>
      </p:sp>
      <p:sp>
        <p:nvSpPr>
          <p:cNvPr id="3" name="Вертикальный текст 2">
            <a:extLst>
              <a:ext uri="{FF2B5EF4-FFF2-40B4-BE49-F238E27FC236}">
                <a16:creationId xmlns:a16="http://schemas.microsoft.com/office/drawing/2014/main" id="{90FD89C6-D958-E9DC-0907-0E2C767CF43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A67F2DF1-FB85-0880-B6BA-4DFD19B274D5}"/>
              </a:ext>
            </a:extLst>
          </p:cNvPr>
          <p:cNvSpPr>
            <a:spLocks noGrp="1"/>
          </p:cNvSpPr>
          <p:nvPr>
            <p:ph type="dt" sz="half" idx="10"/>
          </p:nvPr>
        </p:nvSpPr>
        <p:spPr/>
        <p:txBody>
          <a:body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5BF67550-4D4C-77C5-F795-5A76F952BCBD}"/>
              </a:ext>
            </a:extLst>
          </p:cNvPr>
          <p:cNvSpPr>
            <a:spLocks noGrp="1"/>
          </p:cNvSpPr>
          <p:nvPr>
            <p:ph type="ftr" sz="quarter" idx="11"/>
          </p:nvPr>
        </p:nvSpPr>
        <p:spPr/>
        <p:txBody>
          <a:bodyPr/>
          <a:lstStyle/>
          <a:p>
            <a:endParaRPr lang="ru-KZ"/>
          </a:p>
        </p:txBody>
      </p:sp>
      <p:sp>
        <p:nvSpPr>
          <p:cNvPr id="6" name="Номер слайда 5">
            <a:extLst>
              <a:ext uri="{FF2B5EF4-FFF2-40B4-BE49-F238E27FC236}">
                <a16:creationId xmlns:a16="http://schemas.microsoft.com/office/drawing/2014/main" id="{C2E001CF-E462-888B-54E2-F4311FA43D68}"/>
              </a:ext>
            </a:extLst>
          </p:cNvPr>
          <p:cNvSpPr>
            <a:spLocks noGrp="1"/>
          </p:cNvSpPr>
          <p:nvPr>
            <p:ph type="sldNum" sz="quarter" idx="12"/>
          </p:nvPr>
        </p:nvSpPr>
        <p:spPr/>
        <p:txBody>
          <a:bodyPr/>
          <a:lstStyle/>
          <a:p>
            <a:fld id="{A97D5166-3A9A-4065-99DB-B400FE5A7F52}" type="slidenum">
              <a:rPr lang="ru-KZ" smtClean="0"/>
              <a:t>‹#›</a:t>
            </a:fld>
            <a:endParaRPr lang="ru-KZ"/>
          </a:p>
        </p:txBody>
      </p:sp>
    </p:spTree>
    <p:extLst>
      <p:ext uri="{BB962C8B-B14F-4D97-AF65-F5344CB8AC3E}">
        <p14:creationId xmlns:p14="http://schemas.microsoft.com/office/powerpoint/2010/main" val="2753360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E4CB07-0E37-2B97-F2FE-68D0D1AF59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KZ"/>
          </a:p>
        </p:txBody>
      </p:sp>
      <p:sp>
        <p:nvSpPr>
          <p:cNvPr id="3" name="Текст 2">
            <a:extLst>
              <a:ext uri="{FF2B5EF4-FFF2-40B4-BE49-F238E27FC236}">
                <a16:creationId xmlns:a16="http://schemas.microsoft.com/office/drawing/2014/main" id="{A0756672-5258-6897-11FF-5758762BCC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KZ"/>
          </a:p>
        </p:txBody>
      </p:sp>
      <p:sp>
        <p:nvSpPr>
          <p:cNvPr id="4" name="Дата 3">
            <a:extLst>
              <a:ext uri="{FF2B5EF4-FFF2-40B4-BE49-F238E27FC236}">
                <a16:creationId xmlns:a16="http://schemas.microsoft.com/office/drawing/2014/main" id="{1EBBA5CD-CC55-2A21-4DDE-05AB718C8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49B204-BF2D-42E3-8F77-29C71AC25F64}" type="datetimeFigureOut">
              <a:rPr lang="ru-KZ" smtClean="0"/>
              <a:t>11.06.2026</a:t>
            </a:fld>
            <a:endParaRPr lang="ru-KZ"/>
          </a:p>
        </p:txBody>
      </p:sp>
      <p:sp>
        <p:nvSpPr>
          <p:cNvPr id="5" name="Нижний колонтитул 4">
            <a:extLst>
              <a:ext uri="{FF2B5EF4-FFF2-40B4-BE49-F238E27FC236}">
                <a16:creationId xmlns:a16="http://schemas.microsoft.com/office/drawing/2014/main" id="{6333DEB2-A14A-A877-60EC-3A6FCE99BB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KZ"/>
          </a:p>
        </p:txBody>
      </p:sp>
      <p:sp>
        <p:nvSpPr>
          <p:cNvPr id="6" name="Номер слайда 5">
            <a:extLst>
              <a:ext uri="{FF2B5EF4-FFF2-40B4-BE49-F238E27FC236}">
                <a16:creationId xmlns:a16="http://schemas.microsoft.com/office/drawing/2014/main" id="{4F09CC26-1C9F-D7C1-FD4D-21C0AFD232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7D5166-3A9A-4065-99DB-B400FE5A7F52}" type="slidenum">
              <a:rPr lang="ru-KZ" smtClean="0"/>
              <a:t>‹#›</a:t>
            </a:fld>
            <a:endParaRPr lang="ru-KZ"/>
          </a:p>
        </p:txBody>
      </p:sp>
    </p:spTree>
    <p:extLst>
      <p:ext uri="{BB962C8B-B14F-4D97-AF65-F5344CB8AC3E}">
        <p14:creationId xmlns:p14="http://schemas.microsoft.com/office/powerpoint/2010/main" val="376124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AA93F6-7FAE-030B-8227-BF5FBE85B51F}"/>
              </a:ext>
            </a:extLst>
          </p:cNvPr>
          <p:cNvSpPr txBox="1"/>
          <p:nvPr/>
        </p:nvSpPr>
        <p:spPr>
          <a:xfrm>
            <a:off x="1096554" y="5053220"/>
            <a:ext cx="6847840" cy="646331"/>
          </a:xfrm>
          <a:prstGeom prst="rect">
            <a:avLst/>
          </a:prstGeom>
          <a:noFill/>
        </p:spPr>
        <p:txBody>
          <a:bodyPr wrap="square" rtlCol="0">
            <a:spAutoFit/>
          </a:bodyPr>
          <a:lstStyle/>
          <a:p>
            <a:r>
              <a:rPr lang="en-US" b="1" dirty="0"/>
              <a:t>Done by</a:t>
            </a:r>
            <a:r>
              <a:rPr lang="en-US" dirty="0"/>
              <a:t>: B057-6103-22-02 group student </a:t>
            </a:r>
            <a:r>
              <a:rPr lang="en-US" dirty="0" err="1"/>
              <a:t>Inkara</a:t>
            </a:r>
            <a:r>
              <a:rPr lang="en-US" dirty="0"/>
              <a:t> </a:t>
            </a:r>
            <a:r>
              <a:rPr lang="en-US" dirty="0" err="1"/>
              <a:t>Suleimenova</a:t>
            </a:r>
            <a:r>
              <a:rPr lang="en-US" dirty="0"/>
              <a:t> </a:t>
            </a:r>
            <a:r>
              <a:rPr lang="en-US" dirty="0" err="1"/>
              <a:t>Almazovna</a:t>
            </a:r>
            <a:endParaRPr lang="ru-KZ" dirty="0"/>
          </a:p>
        </p:txBody>
      </p:sp>
      <p:sp>
        <p:nvSpPr>
          <p:cNvPr id="4" name="TextBox 3">
            <a:extLst>
              <a:ext uri="{FF2B5EF4-FFF2-40B4-BE49-F238E27FC236}">
                <a16:creationId xmlns:a16="http://schemas.microsoft.com/office/drawing/2014/main" id="{0C909AD5-25B6-3DF0-61A5-1D136F9E8A0F}"/>
              </a:ext>
            </a:extLst>
          </p:cNvPr>
          <p:cNvSpPr txBox="1"/>
          <p:nvPr/>
        </p:nvSpPr>
        <p:spPr>
          <a:xfrm>
            <a:off x="2048861" y="3627269"/>
            <a:ext cx="7887765" cy="428835"/>
          </a:xfrm>
          <a:prstGeom prst="rect">
            <a:avLst/>
          </a:prstGeom>
          <a:noFill/>
        </p:spPr>
        <p:txBody>
          <a:bodyPr wrap="square">
            <a:spAutoFit/>
          </a:bodyPr>
          <a:lstStyle/>
          <a:p>
            <a:pPr indent="450215" algn="ctr">
              <a:lnSpc>
                <a:spcPct val="115000"/>
              </a:lnSpc>
              <a:buNone/>
            </a:pPr>
            <a:r>
              <a:rPr lang="en-US" sz="2000" b="1" dirty="0">
                <a:effectLst/>
                <a:latin typeface="+mj-lt"/>
                <a:ea typeface="Times New Roman" panose="02020603050405020304" pitchFamily="18" charset="0"/>
              </a:rPr>
              <a:t>Development of a recommendation system for museum exhibits</a:t>
            </a:r>
            <a:endParaRPr lang="ru-KZ" sz="2000" b="1" dirty="0">
              <a:effectLst/>
              <a:latin typeface="+mj-lt"/>
              <a:ea typeface="Arial" panose="020B0604020202020204" pitchFamily="34" charset="0"/>
            </a:endParaRPr>
          </a:p>
        </p:txBody>
      </p:sp>
      <p:sp>
        <p:nvSpPr>
          <p:cNvPr id="5" name="TextBox 4">
            <a:extLst>
              <a:ext uri="{FF2B5EF4-FFF2-40B4-BE49-F238E27FC236}">
                <a16:creationId xmlns:a16="http://schemas.microsoft.com/office/drawing/2014/main" id="{320C3162-2436-C4CB-99BE-8138A1217E40}"/>
              </a:ext>
            </a:extLst>
          </p:cNvPr>
          <p:cNvSpPr txBox="1"/>
          <p:nvPr/>
        </p:nvSpPr>
        <p:spPr>
          <a:xfrm>
            <a:off x="1096554" y="5763520"/>
            <a:ext cx="7416800" cy="369332"/>
          </a:xfrm>
          <a:prstGeom prst="rect">
            <a:avLst/>
          </a:prstGeom>
          <a:noFill/>
        </p:spPr>
        <p:txBody>
          <a:bodyPr wrap="square" rtlCol="0">
            <a:spAutoFit/>
          </a:bodyPr>
          <a:lstStyle/>
          <a:p>
            <a:r>
              <a:rPr lang="en-US" b="1" dirty="0"/>
              <a:t>Scientific Supervisor: </a:t>
            </a:r>
            <a:r>
              <a:rPr lang="en-US" dirty="0"/>
              <a:t>La. Lira </a:t>
            </a:r>
            <a:r>
              <a:rPr lang="en-US" dirty="0" err="1"/>
              <a:t>Lvovna</a:t>
            </a:r>
            <a:endParaRPr lang="ru-RU" dirty="0"/>
          </a:p>
        </p:txBody>
      </p:sp>
      <p:sp>
        <p:nvSpPr>
          <p:cNvPr id="3" name="TextBox 2">
            <a:extLst>
              <a:ext uri="{FF2B5EF4-FFF2-40B4-BE49-F238E27FC236}">
                <a16:creationId xmlns:a16="http://schemas.microsoft.com/office/drawing/2014/main" id="{6FA1CC8F-CC56-2F34-9C85-4A0E79274080}"/>
              </a:ext>
            </a:extLst>
          </p:cNvPr>
          <p:cNvSpPr txBox="1"/>
          <p:nvPr/>
        </p:nvSpPr>
        <p:spPr>
          <a:xfrm>
            <a:off x="1629977" y="829299"/>
            <a:ext cx="7887765" cy="646331"/>
          </a:xfrm>
          <a:prstGeom prst="rect">
            <a:avLst/>
          </a:prstGeom>
          <a:noFill/>
        </p:spPr>
        <p:txBody>
          <a:bodyPr wrap="square" rtlCol="0">
            <a:spAutoFit/>
          </a:bodyPr>
          <a:lstStyle/>
          <a:p>
            <a:r>
              <a:rPr lang="en-US" dirty="0"/>
              <a:t>NJSC “L. N. </a:t>
            </a:r>
            <a:r>
              <a:rPr lang="en-US" dirty="0" err="1"/>
              <a:t>Gumilyov</a:t>
            </a:r>
            <a:r>
              <a:rPr lang="en-US" dirty="0"/>
              <a:t> National University” Institute of Digital Sciences and Artificial Intelligence Department on Information System</a:t>
            </a:r>
            <a:endParaRPr lang="ru-KZ" dirty="0"/>
          </a:p>
        </p:txBody>
      </p:sp>
      <p:pic>
        <p:nvPicPr>
          <p:cNvPr id="6" name="Рисунок 5"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1689FC79-82B2-03D5-FAAE-A13FCBC276EE}"/>
              </a:ext>
            </a:extLst>
          </p:cNvPr>
          <p:cNvPicPr>
            <a:picLocks noChangeAspect="1"/>
          </p:cNvPicPr>
          <p:nvPr/>
        </p:nvPicPr>
        <p:blipFill>
          <a:blip r:embed="rId2"/>
          <a:stretch>
            <a:fillRect/>
          </a:stretch>
        </p:blipFill>
        <p:spPr>
          <a:xfrm>
            <a:off x="9222774" y="578936"/>
            <a:ext cx="2325629" cy="987554"/>
          </a:xfrm>
          <a:prstGeom prst="rect">
            <a:avLst/>
          </a:prstGeom>
        </p:spPr>
      </p:pic>
      <p:sp>
        <p:nvSpPr>
          <p:cNvPr id="7" name="TextBox 6">
            <a:extLst>
              <a:ext uri="{FF2B5EF4-FFF2-40B4-BE49-F238E27FC236}">
                <a16:creationId xmlns:a16="http://schemas.microsoft.com/office/drawing/2014/main" id="{15BE3A44-213D-4F27-1514-0181725AA070}"/>
              </a:ext>
            </a:extLst>
          </p:cNvPr>
          <p:cNvSpPr txBox="1"/>
          <p:nvPr/>
        </p:nvSpPr>
        <p:spPr>
          <a:xfrm>
            <a:off x="4160520" y="2475159"/>
            <a:ext cx="4352834" cy="707886"/>
          </a:xfrm>
          <a:prstGeom prst="rect">
            <a:avLst/>
          </a:prstGeom>
          <a:noFill/>
        </p:spPr>
        <p:txBody>
          <a:bodyPr wrap="square" rtlCol="0">
            <a:spAutoFit/>
          </a:bodyPr>
          <a:lstStyle/>
          <a:p>
            <a:r>
              <a:rPr lang="en-US" sz="4000" b="1" dirty="0"/>
              <a:t>Diploma thesis</a:t>
            </a:r>
            <a:endParaRPr lang="ru-KZ" sz="4000" b="1" dirty="0"/>
          </a:p>
        </p:txBody>
      </p:sp>
      <p:sp>
        <p:nvSpPr>
          <p:cNvPr id="8" name="TextBox 7">
            <a:extLst>
              <a:ext uri="{FF2B5EF4-FFF2-40B4-BE49-F238E27FC236}">
                <a16:creationId xmlns:a16="http://schemas.microsoft.com/office/drawing/2014/main" id="{C17C6D55-30C2-948D-7919-0D817B7ACB25}"/>
              </a:ext>
            </a:extLst>
          </p:cNvPr>
          <p:cNvSpPr txBox="1"/>
          <p:nvPr/>
        </p:nvSpPr>
        <p:spPr>
          <a:xfrm>
            <a:off x="3546383" y="3257937"/>
            <a:ext cx="6118134" cy="369332"/>
          </a:xfrm>
          <a:prstGeom prst="rect">
            <a:avLst/>
          </a:prstGeom>
          <a:noFill/>
        </p:spPr>
        <p:txBody>
          <a:bodyPr wrap="square" rtlCol="0">
            <a:spAutoFit/>
          </a:bodyPr>
          <a:lstStyle/>
          <a:p>
            <a:r>
              <a:rPr lang="en-US" dirty="0"/>
              <a:t>6B06103 – “Information System” educational program</a:t>
            </a:r>
            <a:endParaRPr lang="ru-KZ" dirty="0"/>
          </a:p>
        </p:txBody>
      </p:sp>
    </p:spTree>
    <p:extLst>
      <p:ext uri="{BB962C8B-B14F-4D97-AF65-F5344CB8AC3E}">
        <p14:creationId xmlns:p14="http://schemas.microsoft.com/office/powerpoint/2010/main" val="790599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11CEB8-58B6-497A-DF79-5161CA8D50E8}"/>
              </a:ext>
            </a:extLst>
          </p:cNvPr>
          <p:cNvSpPr>
            <a:spLocks noGrp="1"/>
          </p:cNvSpPr>
          <p:nvPr>
            <p:ph type="title"/>
          </p:nvPr>
        </p:nvSpPr>
        <p:spPr>
          <a:xfrm>
            <a:off x="934065" y="769353"/>
            <a:ext cx="10418147" cy="657662"/>
          </a:xfrm>
        </p:spPr>
        <p:txBody>
          <a:bodyPr/>
          <a:lstStyle/>
          <a:p>
            <a:r>
              <a:rPr lang="en-US" dirty="0"/>
              <a:t>Problem Statement</a:t>
            </a:r>
            <a:endParaRPr lang="ru-KZ" dirty="0"/>
          </a:p>
        </p:txBody>
      </p:sp>
      <p:sp>
        <p:nvSpPr>
          <p:cNvPr id="4" name="Текст 3">
            <a:extLst>
              <a:ext uri="{FF2B5EF4-FFF2-40B4-BE49-F238E27FC236}">
                <a16:creationId xmlns:a16="http://schemas.microsoft.com/office/drawing/2014/main" id="{29BE45A8-AD59-12FD-7C12-E815BE1923F9}"/>
              </a:ext>
            </a:extLst>
          </p:cNvPr>
          <p:cNvSpPr>
            <a:spLocks noGrp="1"/>
          </p:cNvSpPr>
          <p:nvPr>
            <p:ph type="body" sz="half" idx="2"/>
          </p:nvPr>
        </p:nvSpPr>
        <p:spPr/>
        <p:txBody>
          <a:bodyPr/>
          <a:lstStyle/>
          <a:p>
            <a:pPr algn="just"/>
            <a:r>
              <a:rPr lang="en-US" dirty="0"/>
              <a:t>The relevance of this research is driven by the need to improve user experience in museum environments. Modern museums contain a large number of exhibits, which leads to the phenomenon of museum fatigue </a:t>
            </a:r>
            <a:r>
              <a:rPr lang="en-US" b="1" dirty="0"/>
              <a:t>-</a:t>
            </a:r>
            <a:r>
              <a:rPr lang="en-US" dirty="0"/>
              <a:t> physical and cognitive exhaustion experienced by visitors. As a result, user engagement decreases, and many exhibits remain unnoticed. In this context, the development of intelligent recommendation systems has both practical and theoretical significance, as it enables personalized interaction with art and enhances the overall perception of cultural content.</a:t>
            </a:r>
            <a:endParaRPr lang="ru-KZ" dirty="0"/>
          </a:p>
          <a:p>
            <a:pPr algn="just"/>
            <a:endParaRPr lang="ru-KZ" dirty="0"/>
          </a:p>
        </p:txBody>
      </p:sp>
      <p:pic>
        <p:nvPicPr>
          <p:cNvPr id="5" name="Рисунок 4"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E18B3EFC-2281-B850-FEC1-96548DD70FA8}"/>
              </a:ext>
            </a:extLst>
          </p:cNvPr>
          <p:cNvPicPr>
            <a:picLocks noChangeAspect="1"/>
          </p:cNvPicPr>
          <p:nvPr/>
        </p:nvPicPr>
        <p:blipFill>
          <a:blip r:embed="rId2"/>
          <a:stretch>
            <a:fillRect/>
          </a:stretch>
        </p:blipFill>
        <p:spPr>
          <a:xfrm>
            <a:off x="9026583" y="579478"/>
            <a:ext cx="2325629" cy="987554"/>
          </a:xfrm>
          <a:prstGeom prst="rect">
            <a:avLst/>
          </a:prstGeom>
        </p:spPr>
      </p:pic>
      <p:grpSp>
        <p:nvGrpSpPr>
          <p:cNvPr id="10" name="Группа 9">
            <a:extLst>
              <a:ext uri="{FF2B5EF4-FFF2-40B4-BE49-F238E27FC236}">
                <a16:creationId xmlns:a16="http://schemas.microsoft.com/office/drawing/2014/main" id="{DA800C78-993C-5C58-ABE7-4BE1297DA88A}"/>
              </a:ext>
            </a:extLst>
          </p:cNvPr>
          <p:cNvGrpSpPr/>
          <p:nvPr/>
        </p:nvGrpSpPr>
        <p:grpSpPr>
          <a:xfrm>
            <a:off x="6431918" y="2445796"/>
            <a:ext cx="4801989" cy="853652"/>
            <a:chOff x="6438090" y="1983832"/>
            <a:chExt cx="4801989" cy="853652"/>
          </a:xfrm>
        </p:grpSpPr>
        <p:sp>
          <p:nvSpPr>
            <p:cNvPr id="8" name="Прямоугольник 7">
              <a:extLst>
                <a:ext uri="{FF2B5EF4-FFF2-40B4-BE49-F238E27FC236}">
                  <a16:creationId xmlns:a16="http://schemas.microsoft.com/office/drawing/2014/main" id="{DCCC02D7-68F3-1F66-9495-12C25D284A21}"/>
                </a:ext>
              </a:extLst>
            </p:cNvPr>
            <p:cNvSpPr/>
            <p:nvPr/>
          </p:nvSpPr>
          <p:spPr>
            <a:xfrm>
              <a:off x="6438090" y="1983832"/>
              <a:ext cx="3751307" cy="853652"/>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9" name="TextBox 8">
              <a:extLst>
                <a:ext uri="{FF2B5EF4-FFF2-40B4-BE49-F238E27FC236}">
                  <a16:creationId xmlns:a16="http://schemas.microsoft.com/office/drawing/2014/main" id="{DFDBFB61-81DB-CC43-2083-BB9FD464ECDB}"/>
                </a:ext>
              </a:extLst>
            </p:cNvPr>
            <p:cNvSpPr txBox="1"/>
            <p:nvPr/>
          </p:nvSpPr>
          <p:spPr>
            <a:xfrm>
              <a:off x="6776234" y="2225992"/>
              <a:ext cx="4463845" cy="369332"/>
            </a:xfrm>
            <a:prstGeom prst="rect">
              <a:avLst/>
            </a:prstGeom>
            <a:noFill/>
          </p:spPr>
          <p:txBody>
            <a:bodyPr wrap="square" rtlCol="0">
              <a:spAutoFit/>
            </a:bodyPr>
            <a:lstStyle/>
            <a:p>
              <a:r>
                <a:rPr lang="en-US" dirty="0"/>
                <a:t>Symptoms of museum fatigue</a:t>
              </a:r>
              <a:endParaRPr lang="ru-KZ" dirty="0"/>
            </a:p>
          </p:txBody>
        </p:sp>
      </p:grpSp>
      <p:sp>
        <p:nvSpPr>
          <p:cNvPr id="11" name="Прямоугольник 10">
            <a:extLst>
              <a:ext uri="{FF2B5EF4-FFF2-40B4-BE49-F238E27FC236}">
                <a16:creationId xmlns:a16="http://schemas.microsoft.com/office/drawing/2014/main" id="{820CA3BF-0D88-56B8-6FE6-60CA4131EF31}"/>
              </a:ext>
            </a:extLst>
          </p:cNvPr>
          <p:cNvSpPr/>
          <p:nvPr/>
        </p:nvSpPr>
        <p:spPr>
          <a:xfrm>
            <a:off x="5304322" y="3668863"/>
            <a:ext cx="2519299" cy="59897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12" name="TextBox 11">
            <a:extLst>
              <a:ext uri="{FF2B5EF4-FFF2-40B4-BE49-F238E27FC236}">
                <a16:creationId xmlns:a16="http://schemas.microsoft.com/office/drawing/2014/main" id="{753A0D76-D0F5-F869-143D-653614EFB2FF}"/>
              </a:ext>
            </a:extLst>
          </p:cNvPr>
          <p:cNvSpPr txBox="1"/>
          <p:nvPr/>
        </p:nvSpPr>
        <p:spPr>
          <a:xfrm>
            <a:off x="5450385" y="3783684"/>
            <a:ext cx="2448232" cy="369332"/>
          </a:xfrm>
          <a:prstGeom prst="rect">
            <a:avLst/>
          </a:prstGeom>
          <a:noFill/>
        </p:spPr>
        <p:txBody>
          <a:bodyPr wrap="square" rtlCol="0">
            <a:spAutoFit/>
          </a:bodyPr>
          <a:lstStyle/>
          <a:p>
            <a:r>
              <a:rPr lang="en-US" dirty="0"/>
              <a:t>Heaviness in the legs</a:t>
            </a:r>
            <a:endParaRPr lang="ru-KZ" dirty="0"/>
          </a:p>
        </p:txBody>
      </p:sp>
      <p:sp>
        <p:nvSpPr>
          <p:cNvPr id="14" name="Прямоугольник 13">
            <a:extLst>
              <a:ext uri="{FF2B5EF4-FFF2-40B4-BE49-F238E27FC236}">
                <a16:creationId xmlns:a16="http://schemas.microsoft.com/office/drawing/2014/main" id="{0E366AA6-8697-6B7F-4051-F053AD50E29C}"/>
              </a:ext>
            </a:extLst>
          </p:cNvPr>
          <p:cNvSpPr/>
          <p:nvPr/>
        </p:nvSpPr>
        <p:spPr>
          <a:xfrm>
            <a:off x="8832913" y="3668863"/>
            <a:ext cx="2519299" cy="59897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15" name="Прямоугольник 14">
            <a:extLst>
              <a:ext uri="{FF2B5EF4-FFF2-40B4-BE49-F238E27FC236}">
                <a16:creationId xmlns:a16="http://schemas.microsoft.com/office/drawing/2014/main" id="{4B4170E9-F7C5-209C-571B-83B32A4D0B80}"/>
              </a:ext>
            </a:extLst>
          </p:cNvPr>
          <p:cNvSpPr/>
          <p:nvPr/>
        </p:nvSpPr>
        <p:spPr>
          <a:xfrm>
            <a:off x="5304321" y="4673701"/>
            <a:ext cx="2519299" cy="59897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16" name="TextBox 15">
            <a:extLst>
              <a:ext uri="{FF2B5EF4-FFF2-40B4-BE49-F238E27FC236}">
                <a16:creationId xmlns:a16="http://schemas.microsoft.com/office/drawing/2014/main" id="{56CEF1D9-74C3-475D-3D01-FF0D3951B306}"/>
              </a:ext>
            </a:extLst>
          </p:cNvPr>
          <p:cNvSpPr txBox="1"/>
          <p:nvPr/>
        </p:nvSpPr>
        <p:spPr>
          <a:xfrm>
            <a:off x="9178948" y="3774892"/>
            <a:ext cx="2519299" cy="369332"/>
          </a:xfrm>
          <a:prstGeom prst="rect">
            <a:avLst/>
          </a:prstGeom>
          <a:noFill/>
        </p:spPr>
        <p:txBody>
          <a:bodyPr wrap="square" rtlCol="0">
            <a:spAutoFit/>
          </a:bodyPr>
          <a:lstStyle/>
          <a:p>
            <a:r>
              <a:rPr lang="ru-RU" dirty="0"/>
              <a:t>С</a:t>
            </a:r>
            <a:r>
              <a:rPr lang="en-US" dirty="0" err="1"/>
              <a:t>ognitive</a:t>
            </a:r>
            <a:r>
              <a:rPr lang="en-US" dirty="0"/>
              <a:t> freeze</a:t>
            </a:r>
            <a:endParaRPr lang="ru-KZ" dirty="0"/>
          </a:p>
        </p:txBody>
      </p:sp>
      <p:sp>
        <p:nvSpPr>
          <p:cNvPr id="17" name="TextBox 16">
            <a:extLst>
              <a:ext uri="{FF2B5EF4-FFF2-40B4-BE49-F238E27FC236}">
                <a16:creationId xmlns:a16="http://schemas.microsoft.com/office/drawing/2014/main" id="{3B459BCB-161E-77F4-139A-EEA6340CB946}"/>
              </a:ext>
            </a:extLst>
          </p:cNvPr>
          <p:cNvSpPr txBox="1"/>
          <p:nvPr/>
        </p:nvSpPr>
        <p:spPr>
          <a:xfrm>
            <a:off x="5873995" y="4742817"/>
            <a:ext cx="1686417" cy="369332"/>
          </a:xfrm>
          <a:prstGeom prst="rect">
            <a:avLst/>
          </a:prstGeom>
          <a:noFill/>
        </p:spPr>
        <p:txBody>
          <a:bodyPr wrap="square" rtlCol="0">
            <a:spAutoFit/>
          </a:bodyPr>
          <a:lstStyle/>
          <a:p>
            <a:r>
              <a:rPr lang="en-US" dirty="0"/>
              <a:t>Art blindness</a:t>
            </a:r>
            <a:endParaRPr lang="ru-KZ" dirty="0"/>
          </a:p>
        </p:txBody>
      </p:sp>
      <p:sp>
        <p:nvSpPr>
          <p:cNvPr id="18" name="Прямоугольник 17">
            <a:extLst>
              <a:ext uri="{FF2B5EF4-FFF2-40B4-BE49-F238E27FC236}">
                <a16:creationId xmlns:a16="http://schemas.microsoft.com/office/drawing/2014/main" id="{934DC25B-1B9C-1E18-F629-6D05C52ADB6C}"/>
              </a:ext>
            </a:extLst>
          </p:cNvPr>
          <p:cNvSpPr/>
          <p:nvPr/>
        </p:nvSpPr>
        <p:spPr>
          <a:xfrm>
            <a:off x="8832913" y="4627996"/>
            <a:ext cx="2519299" cy="59897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19" name="TextBox 18">
            <a:extLst>
              <a:ext uri="{FF2B5EF4-FFF2-40B4-BE49-F238E27FC236}">
                <a16:creationId xmlns:a16="http://schemas.microsoft.com/office/drawing/2014/main" id="{664E1942-D19C-E9A8-32FC-83E61AA63D50}"/>
              </a:ext>
            </a:extLst>
          </p:cNvPr>
          <p:cNvSpPr txBox="1"/>
          <p:nvPr/>
        </p:nvSpPr>
        <p:spPr>
          <a:xfrm>
            <a:off x="9137631" y="4742817"/>
            <a:ext cx="2103533" cy="369332"/>
          </a:xfrm>
          <a:prstGeom prst="rect">
            <a:avLst/>
          </a:prstGeom>
          <a:noFill/>
        </p:spPr>
        <p:txBody>
          <a:bodyPr wrap="square" rtlCol="0">
            <a:spAutoFit/>
          </a:bodyPr>
          <a:lstStyle/>
          <a:p>
            <a:r>
              <a:rPr lang="en-US" dirty="0"/>
              <a:t>The urge to escape</a:t>
            </a:r>
            <a:endParaRPr lang="ru-KZ" dirty="0"/>
          </a:p>
        </p:txBody>
      </p:sp>
      <p:sp>
        <p:nvSpPr>
          <p:cNvPr id="21" name="TextBox 20">
            <a:extLst>
              <a:ext uri="{FF2B5EF4-FFF2-40B4-BE49-F238E27FC236}">
                <a16:creationId xmlns:a16="http://schemas.microsoft.com/office/drawing/2014/main" id="{F56B63F4-7DC2-F2FC-AA80-847FAE670B8E}"/>
              </a:ext>
            </a:extLst>
          </p:cNvPr>
          <p:cNvSpPr txBox="1"/>
          <p:nvPr/>
        </p:nvSpPr>
        <p:spPr>
          <a:xfrm>
            <a:off x="6431918" y="5725417"/>
            <a:ext cx="4619540" cy="646331"/>
          </a:xfrm>
          <a:prstGeom prst="rect">
            <a:avLst/>
          </a:prstGeom>
          <a:noFill/>
        </p:spPr>
        <p:txBody>
          <a:bodyPr wrap="square" rtlCol="0">
            <a:spAutoFit/>
          </a:bodyPr>
          <a:lstStyle/>
          <a:p>
            <a:r>
              <a:rPr lang="en-US" dirty="0"/>
              <a:t>Scheme 1. Symptoms of museum fatigue</a:t>
            </a:r>
            <a:endParaRPr lang="ru-KZ" dirty="0"/>
          </a:p>
          <a:p>
            <a:r>
              <a:rPr lang="en-US" dirty="0"/>
              <a:t> </a:t>
            </a:r>
            <a:endParaRPr lang="ru-KZ" dirty="0"/>
          </a:p>
        </p:txBody>
      </p:sp>
    </p:spTree>
    <p:extLst>
      <p:ext uri="{BB962C8B-B14F-4D97-AF65-F5344CB8AC3E}">
        <p14:creationId xmlns:p14="http://schemas.microsoft.com/office/powerpoint/2010/main" val="1523620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49A9-E773-F44E-8FDC-41FD4C4D92C4}"/>
              </a:ext>
            </a:extLst>
          </p:cNvPr>
          <p:cNvSpPr>
            <a:spLocks noGrp="1"/>
          </p:cNvSpPr>
          <p:nvPr>
            <p:ph type="title"/>
          </p:nvPr>
        </p:nvSpPr>
        <p:spPr>
          <a:xfrm>
            <a:off x="838200" y="709775"/>
            <a:ext cx="10515600" cy="1325563"/>
          </a:xfrm>
        </p:spPr>
        <p:txBody>
          <a:bodyPr/>
          <a:lstStyle/>
          <a:p>
            <a:r>
              <a:rPr lang="en-US" dirty="0"/>
              <a:t>Objective</a:t>
            </a:r>
            <a:endParaRPr lang="ru-KZ" dirty="0"/>
          </a:p>
        </p:txBody>
      </p:sp>
      <p:sp>
        <p:nvSpPr>
          <p:cNvPr id="3" name="Объект 2">
            <a:extLst>
              <a:ext uri="{FF2B5EF4-FFF2-40B4-BE49-F238E27FC236}">
                <a16:creationId xmlns:a16="http://schemas.microsoft.com/office/drawing/2014/main" id="{6D9EDC14-E497-B6CA-D862-A85F805B9EF1}"/>
              </a:ext>
            </a:extLst>
          </p:cNvPr>
          <p:cNvSpPr>
            <a:spLocks noGrp="1"/>
          </p:cNvSpPr>
          <p:nvPr>
            <p:ph idx="1"/>
          </p:nvPr>
        </p:nvSpPr>
        <p:spPr>
          <a:xfrm>
            <a:off x="968828" y="2576754"/>
            <a:ext cx="10626213" cy="3404266"/>
          </a:xfrm>
        </p:spPr>
        <p:txBody>
          <a:bodyPr/>
          <a:lstStyle/>
          <a:p>
            <a:pPr marL="0" indent="0">
              <a:buNone/>
            </a:pPr>
            <a:r>
              <a:rPr lang="en-US" dirty="0"/>
              <a:t>The objective of this thesis is to develop a recommendation system that personalizes museum exhibit suggestions, increases user engagement, and simplifies interaction with art.</a:t>
            </a:r>
            <a:endParaRPr lang="ru-KZ" dirty="0"/>
          </a:p>
          <a:p>
            <a:pPr marL="0" indent="0">
              <a:buNone/>
            </a:pPr>
            <a:endParaRPr lang="ru-KZ" dirty="0"/>
          </a:p>
        </p:txBody>
      </p:sp>
      <p:pic>
        <p:nvPicPr>
          <p:cNvPr id="4" name="Рисунок 3"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6BD1D934-77EF-A538-BA37-DAD179FADD24}"/>
              </a:ext>
            </a:extLst>
          </p:cNvPr>
          <p:cNvPicPr>
            <a:picLocks noChangeAspect="1"/>
          </p:cNvPicPr>
          <p:nvPr/>
        </p:nvPicPr>
        <p:blipFill>
          <a:blip r:embed="rId2"/>
          <a:stretch>
            <a:fillRect/>
          </a:stretch>
        </p:blipFill>
        <p:spPr>
          <a:xfrm>
            <a:off x="9028171" y="709775"/>
            <a:ext cx="2325629" cy="987554"/>
          </a:xfrm>
          <a:prstGeom prst="rect">
            <a:avLst/>
          </a:prstGeom>
        </p:spPr>
      </p:pic>
    </p:spTree>
    <p:extLst>
      <p:ext uri="{BB962C8B-B14F-4D97-AF65-F5344CB8AC3E}">
        <p14:creationId xmlns:p14="http://schemas.microsoft.com/office/powerpoint/2010/main" val="591954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31E4D8-5876-3953-B4A8-DCAEFC7351C9}"/>
              </a:ext>
            </a:extLst>
          </p:cNvPr>
          <p:cNvSpPr>
            <a:spLocks noGrp="1"/>
          </p:cNvSpPr>
          <p:nvPr>
            <p:ph type="title"/>
          </p:nvPr>
        </p:nvSpPr>
        <p:spPr>
          <a:xfrm>
            <a:off x="838200" y="800553"/>
            <a:ext cx="10515600" cy="1325563"/>
          </a:xfrm>
        </p:spPr>
        <p:txBody>
          <a:bodyPr/>
          <a:lstStyle/>
          <a:p>
            <a:r>
              <a:rPr lang="en-US" dirty="0"/>
              <a:t>Thesis Tasks</a:t>
            </a:r>
            <a:endParaRPr lang="ru-KZ" dirty="0"/>
          </a:p>
        </p:txBody>
      </p:sp>
      <p:sp>
        <p:nvSpPr>
          <p:cNvPr id="3" name="Объект 2">
            <a:extLst>
              <a:ext uri="{FF2B5EF4-FFF2-40B4-BE49-F238E27FC236}">
                <a16:creationId xmlns:a16="http://schemas.microsoft.com/office/drawing/2014/main" id="{FC226B09-EDF1-D7E9-1597-E0DC06E2584F}"/>
              </a:ext>
            </a:extLst>
          </p:cNvPr>
          <p:cNvSpPr>
            <a:spLocks noGrp="1"/>
          </p:cNvSpPr>
          <p:nvPr>
            <p:ph idx="1"/>
          </p:nvPr>
        </p:nvSpPr>
        <p:spPr>
          <a:xfrm>
            <a:off x="838200" y="2498124"/>
            <a:ext cx="10515600" cy="3444649"/>
          </a:xfrm>
        </p:spPr>
        <p:txBody>
          <a:bodyPr>
            <a:normAutofit fontScale="92500" lnSpcReduction="20000"/>
          </a:bodyPr>
          <a:lstStyle/>
          <a:p>
            <a:pPr marL="342900" indent="-342900">
              <a:buFont typeface="+mj-lt"/>
              <a:buAutoNum type="arabicPeriod"/>
            </a:pPr>
            <a:r>
              <a:rPr lang="ru-RU" dirty="0"/>
              <a:t>С</a:t>
            </a:r>
            <a:r>
              <a:rPr lang="en-US" dirty="0" err="1"/>
              <a:t>ollection</a:t>
            </a:r>
            <a:r>
              <a:rPr lang="en-US" dirty="0"/>
              <a:t>, analysis, and systematization of scientific and technical literature on recommendation systems and digital museum technologies; </a:t>
            </a:r>
            <a:endParaRPr lang="ru-RU" dirty="0"/>
          </a:p>
          <a:p>
            <a:pPr marL="342900" indent="-342900">
              <a:buFont typeface="+mj-lt"/>
              <a:buAutoNum type="arabicPeriod"/>
            </a:pPr>
            <a:r>
              <a:rPr lang="en-US" dirty="0"/>
              <a:t>Selection of appropriate methods for image processing, feature extraction, and recommendation generation; </a:t>
            </a:r>
            <a:endParaRPr lang="ru-RU" dirty="0"/>
          </a:p>
          <a:p>
            <a:pPr marL="342900" indent="-342900">
              <a:buFont typeface="+mj-lt"/>
              <a:buAutoNum type="arabicPeriod"/>
            </a:pPr>
            <a:r>
              <a:rPr lang="en-US" dirty="0"/>
              <a:t>Development and implementation of a recommendation algorithm based on visual similarity and user preferences</a:t>
            </a:r>
            <a:endParaRPr lang="ru-RU" dirty="0"/>
          </a:p>
          <a:p>
            <a:pPr marL="342900" indent="-342900">
              <a:buFont typeface="+mj-lt"/>
              <a:buAutoNum type="arabicPeriod"/>
            </a:pPr>
            <a:r>
              <a:rPr lang="en-US" dirty="0"/>
              <a:t>Design of system architecture, including backend, database, and user interface;</a:t>
            </a:r>
            <a:endParaRPr lang="ru-RU" dirty="0"/>
          </a:p>
          <a:p>
            <a:pPr marL="342900" indent="-342900">
              <a:buFont typeface="+mj-lt"/>
              <a:buAutoNum type="arabicPeriod"/>
            </a:pPr>
            <a:r>
              <a:rPr lang="en-US" dirty="0"/>
              <a:t>Evaluation of system performance and formulation of conclusions.</a:t>
            </a:r>
            <a:endParaRPr lang="ru-KZ" dirty="0"/>
          </a:p>
          <a:p>
            <a:pPr marL="0" indent="0">
              <a:buNone/>
            </a:pPr>
            <a:endParaRPr lang="ru-KZ" dirty="0"/>
          </a:p>
        </p:txBody>
      </p:sp>
      <p:pic>
        <p:nvPicPr>
          <p:cNvPr id="4" name="Рисунок 3"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2D1C99B5-66F2-D4ED-E79A-489A4F59CD87}"/>
              </a:ext>
            </a:extLst>
          </p:cNvPr>
          <p:cNvPicPr>
            <a:picLocks noChangeAspect="1"/>
          </p:cNvPicPr>
          <p:nvPr/>
        </p:nvPicPr>
        <p:blipFill>
          <a:blip r:embed="rId2"/>
          <a:stretch>
            <a:fillRect/>
          </a:stretch>
        </p:blipFill>
        <p:spPr>
          <a:xfrm>
            <a:off x="9028171" y="915227"/>
            <a:ext cx="2325629" cy="987554"/>
          </a:xfrm>
          <a:prstGeom prst="rect">
            <a:avLst/>
          </a:prstGeom>
        </p:spPr>
      </p:pic>
    </p:spTree>
    <p:extLst>
      <p:ext uri="{BB962C8B-B14F-4D97-AF65-F5344CB8AC3E}">
        <p14:creationId xmlns:p14="http://schemas.microsoft.com/office/powerpoint/2010/main" val="4097435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35C406-89D6-4B7A-D028-C4F74811EDA1}"/>
              </a:ext>
            </a:extLst>
          </p:cNvPr>
          <p:cNvSpPr>
            <a:spLocks noGrp="1"/>
          </p:cNvSpPr>
          <p:nvPr>
            <p:ph type="title"/>
          </p:nvPr>
        </p:nvSpPr>
        <p:spPr>
          <a:xfrm>
            <a:off x="838200" y="854982"/>
            <a:ext cx="10515600" cy="1325563"/>
          </a:xfrm>
        </p:spPr>
        <p:txBody>
          <a:bodyPr/>
          <a:lstStyle/>
          <a:p>
            <a:r>
              <a:rPr lang="en-US" dirty="0"/>
              <a:t>Literature Review</a:t>
            </a:r>
            <a:endParaRPr lang="ru-KZ" dirty="0"/>
          </a:p>
        </p:txBody>
      </p:sp>
      <p:pic>
        <p:nvPicPr>
          <p:cNvPr id="4" name="Рисунок 3"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3E528550-181C-7334-AAF2-7994F90030B3}"/>
              </a:ext>
            </a:extLst>
          </p:cNvPr>
          <p:cNvPicPr>
            <a:picLocks noChangeAspect="1"/>
          </p:cNvPicPr>
          <p:nvPr/>
        </p:nvPicPr>
        <p:blipFill>
          <a:blip r:embed="rId2"/>
          <a:stretch>
            <a:fillRect/>
          </a:stretch>
        </p:blipFill>
        <p:spPr>
          <a:xfrm>
            <a:off x="9028171" y="915227"/>
            <a:ext cx="2325629" cy="987554"/>
          </a:xfrm>
          <a:prstGeom prst="rect">
            <a:avLst/>
          </a:prstGeom>
        </p:spPr>
      </p:pic>
      <p:graphicFrame>
        <p:nvGraphicFramePr>
          <p:cNvPr id="5" name="Таблица 4">
            <a:extLst>
              <a:ext uri="{FF2B5EF4-FFF2-40B4-BE49-F238E27FC236}">
                <a16:creationId xmlns:a16="http://schemas.microsoft.com/office/drawing/2014/main" id="{B019535A-598F-EA4C-F63E-5E184454C85E}"/>
              </a:ext>
            </a:extLst>
          </p:cNvPr>
          <p:cNvGraphicFramePr>
            <a:graphicFrameLocks noGrp="1"/>
          </p:cNvGraphicFramePr>
          <p:nvPr>
            <p:extLst>
              <p:ext uri="{D42A27DB-BD31-4B8C-83A1-F6EECF244321}">
                <p14:modId xmlns:p14="http://schemas.microsoft.com/office/powerpoint/2010/main" val="1250026637"/>
              </p:ext>
            </p:extLst>
          </p:nvPr>
        </p:nvGraphicFramePr>
        <p:xfrm>
          <a:off x="1126672" y="2490610"/>
          <a:ext cx="9938656" cy="3181774"/>
        </p:xfrm>
        <a:graphic>
          <a:graphicData uri="http://schemas.openxmlformats.org/drawingml/2006/table">
            <a:tbl>
              <a:tblPr firstRow="1" bandRow="1">
                <a:tableStyleId>{5940675A-B579-460E-94D1-54222C63F5DA}</a:tableStyleId>
              </a:tblPr>
              <a:tblGrid>
                <a:gridCol w="2484664">
                  <a:extLst>
                    <a:ext uri="{9D8B030D-6E8A-4147-A177-3AD203B41FA5}">
                      <a16:colId xmlns:a16="http://schemas.microsoft.com/office/drawing/2014/main" val="1776158334"/>
                    </a:ext>
                  </a:extLst>
                </a:gridCol>
                <a:gridCol w="2484664">
                  <a:extLst>
                    <a:ext uri="{9D8B030D-6E8A-4147-A177-3AD203B41FA5}">
                      <a16:colId xmlns:a16="http://schemas.microsoft.com/office/drawing/2014/main" val="3466767792"/>
                    </a:ext>
                  </a:extLst>
                </a:gridCol>
                <a:gridCol w="2484664">
                  <a:extLst>
                    <a:ext uri="{9D8B030D-6E8A-4147-A177-3AD203B41FA5}">
                      <a16:colId xmlns:a16="http://schemas.microsoft.com/office/drawing/2014/main" val="2895140700"/>
                    </a:ext>
                  </a:extLst>
                </a:gridCol>
                <a:gridCol w="2484664">
                  <a:extLst>
                    <a:ext uri="{9D8B030D-6E8A-4147-A177-3AD203B41FA5}">
                      <a16:colId xmlns:a16="http://schemas.microsoft.com/office/drawing/2014/main" val="3536182246"/>
                    </a:ext>
                  </a:extLst>
                </a:gridCol>
              </a:tblGrid>
              <a:tr h="418254">
                <a:tc>
                  <a:txBody>
                    <a:bodyPr/>
                    <a:lstStyle/>
                    <a:p>
                      <a:r>
                        <a:rPr lang="en-US" dirty="0"/>
                        <a:t>Authors</a:t>
                      </a:r>
                      <a:endParaRPr lang="ru-KZ" dirty="0"/>
                    </a:p>
                  </a:txBody>
                  <a:tcPr/>
                </a:tc>
                <a:tc>
                  <a:txBody>
                    <a:bodyPr/>
                    <a:lstStyle/>
                    <a:p>
                      <a:r>
                        <a:rPr lang="en-US" dirty="0"/>
                        <a:t>Approach</a:t>
                      </a:r>
                      <a:endParaRPr lang="ru-KZ" dirty="0"/>
                    </a:p>
                  </a:txBody>
                  <a:tcPr/>
                </a:tc>
                <a:tc>
                  <a:txBody>
                    <a:bodyPr/>
                    <a:lstStyle/>
                    <a:p>
                      <a:r>
                        <a:rPr lang="en-US" dirty="0"/>
                        <a:t>Domain</a:t>
                      </a:r>
                      <a:endParaRPr lang="ru-KZ" dirty="0"/>
                    </a:p>
                  </a:txBody>
                  <a:tcPr/>
                </a:tc>
                <a:tc>
                  <a:txBody>
                    <a:bodyPr/>
                    <a:lstStyle/>
                    <a:p>
                      <a:r>
                        <a:rPr lang="en-US" dirty="0"/>
                        <a:t>Key Idea</a:t>
                      </a:r>
                      <a:endParaRPr lang="ru-KZ" dirty="0"/>
                    </a:p>
                  </a:txBody>
                  <a:tcPr/>
                </a:tc>
                <a:extLst>
                  <a:ext uri="{0D108BD9-81ED-4DB2-BD59-A6C34878D82A}">
                    <a16:rowId xmlns:a16="http://schemas.microsoft.com/office/drawing/2014/main" val="1690576010"/>
                  </a:ext>
                </a:extLst>
              </a:tr>
              <a:tr h="523240">
                <a:tc>
                  <a:txBody>
                    <a:bodyPr/>
                    <a:lstStyle/>
                    <a:p>
                      <a:r>
                        <a:rPr lang="en-US" dirty="0" err="1"/>
                        <a:t>Zavattaro</a:t>
                      </a:r>
                      <a:r>
                        <a:rPr lang="en-US" dirty="0"/>
                        <a:t> et al. (2026)</a:t>
                      </a:r>
                      <a:endParaRPr lang="ru-KZ" dirty="0"/>
                    </a:p>
                  </a:txBody>
                  <a:tcPr/>
                </a:tc>
                <a:tc>
                  <a:txBody>
                    <a:bodyPr/>
                    <a:lstStyle/>
                    <a:p>
                      <a:pPr>
                        <a:buNone/>
                      </a:pPr>
                      <a:r>
                        <a:rPr lang="en-US" dirty="0" err="1"/>
                        <a:t>Behaivoral</a:t>
                      </a:r>
                      <a:r>
                        <a:rPr lang="en-US" dirty="0"/>
                        <a:t> analysis</a:t>
                      </a:r>
                      <a:endParaRPr lang="ru-KZ"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Museums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KZ" dirty="0"/>
                    </a:p>
                  </a:txBody>
                  <a:tcPr anchor="ctr"/>
                </a:tc>
                <a:tc>
                  <a:txBody>
                    <a:bodyPr/>
                    <a:lstStyle/>
                    <a:p>
                      <a:r>
                        <a:rPr lang="en-US" dirty="0"/>
                        <a:t>Museum fatigue</a:t>
                      </a:r>
                      <a:endParaRPr lang="ru-KZ" dirty="0"/>
                    </a:p>
                  </a:txBody>
                  <a:tcPr/>
                </a:tc>
                <a:extLst>
                  <a:ext uri="{0D108BD9-81ED-4DB2-BD59-A6C34878D82A}">
                    <a16:rowId xmlns:a16="http://schemas.microsoft.com/office/drawing/2014/main" val="1031533924"/>
                  </a:ext>
                </a:extLst>
              </a:tr>
              <a:tr h="370840">
                <a:tc>
                  <a:txBody>
                    <a:bodyPr/>
                    <a:lstStyle/>
                    <a:p>
                      <a:r>
                        <a:rPr lang="en-US" dirty="0"/>
                        <a:t>Casillo et al. (2025)</a:t>
                      </a:r>
                      <a:endParaRPr lang="ru-KZ" dirty="0"/>
                    </a:p>
                  </a:txBody>
                  <a:tcPr/>
                </a:tc>
                <a:tc>
                  <a:txBody>
                    <a:bodyPr/>
                    <a:lstStyle/>
                    <a:p>
                      <a:r>
                        <a:rPr lang="en-US" dirty="0"/>
                        <a:t>Context-aware RS</a:t>
                      </a:r>
                      <a:endParaRPr lang="ru-KZ" dirty="0"/>
                    </a:p>
                  </a:txBody>
                  <a:tcPr/>
                </a:tc>
                <a:tc>
                  <a:txBody>
                    <a:bodyPr/>
                    <a:lstStyle/>
                    <a:p>
                      <a:r>
                        <a:rPr lang="en-US" dirty="0"/>
                        <a:t>Culture</a:t>
                      </a:r>
                      <a:endParaRPr lang="ru-KZ" dirty="0"/>
                    </a:p>
                  </a:txBody>
                  <a:tcPr/>
                </a:tc>
                <a:tc>
                  <a:txBody>
                    <a:bodyPr/>
                    <a:lstStyle/>
                    <a:p>
                      <a:r>
                        <a:rPr lang="en-US" dirty="0"/>
                        <a:t>Personalization</a:t>
                      </a:r>
                      <a:endParaRPr lang="ru-KZ" dirty="0"/>
                    </a:p>
                  </a:txBody>
                  <a:tcPr/>
                </a:tc>
                <a:extLst>
                  <a:ext uri="{0D108BD9-81ED-4DB2-BD59-A6C34878D82A}">
                    <a16:rowId xmlns:a16="http://schemas.microsoft.com/office/drawing/2014/main" val="435916836"/>
                  </a:ext>
                </a:extLst>
              </a:tr>
              <a:tr h="370840">
                <a:tc>
                  <a:txBody>
                    <a:bodyPr/>
                    <a:lstStyle/>
                    <a:p>
                      <a:r>
                        <a:rPr lang="en-US" dirty="0"/>
                        <a:t>Kim (2024)</a:t>
                      </a:r>
                      <a:endParaRPr lang="ru-KZ" dirty="0"/>
                    </a:p>
                  </a:txBody>
                  <a:tcPr/>
                </a:tc>
                <a:tc>
                  <a:txBody>
                    <a:bodyPr/>
                    <a:lstStyle/>
                    <a:p>
                      <a:r>
                        <a:rPr lang="en-US" dirty="0"/>
                        <a:t>Content-based</a:t>
                      </a:r>
                      <a:endParaRPr lang="ru-KZ" dirty="0"/>
                    </a:p>
                  </a:txBody>
                  <a:tcPr/>
                </a:tc>
                <a:tc>
                  <a:txBody>
                    <a:bodyPr/>
                    <a:lstStyle/>
                    <a:p>
                      <a:r>
                        <a:rPr lang="en-US" dirty="0"/>
                        <a:t>Art</a:t>
                      </a:r>
                      <a:endParaRPr lang="ru-KZ" dirty="0"/>
                    </a:p>
                  </a:txBody>
                  <a:tcPr/>
                </a:tc>
                <a:tc>
                  <a:txBody>
                    <a:bodyPr/>
                    <a:lstStyle/>
                    <a:p>
                      <a:r>
                        <a:rPr lang="en-US" dirty="0"/>
                        <a:t>User preferences</a:t>
                      </a:r>
                      <a:endParaRPr lang="ru-KZ" dirty="0"/>
                    </a:p>
                  </a:txBody>
                  <a:tcPr/>
                </a:tc>
                <a:extLst>
                  <a:ext uri="{0D108BD9-81ED-4DB2-BD59-A6C34878D82A}">
                    <a16:rowId xmlns:a16="http://schemas.microsoft.com/office/drawing/2014/main" val="1053841944"/>
                  </a:ext>
                </a:extLst>
              </a:tr>
              <a:tr h="370840">
                <a:tc>
                  <a:txBody>
                    <a:bodyPr/>
                    <a:lstStyle/>
                    <a:p>
                      <a:r>
                        <a:rPr lang="en-US" dirty="0"/>
                        <a:t>Yilma et al. (2025)</a:t>
                      </a:r>
                      <a:endParaRPr lang="ru-KZ" dirty="0"/>
                    </a:p>
                  </a:txBody>
                  <a:tcPr/>
                </a:tc>
                <a:tc>
                  <a:txBody>
                    <a:bodyPr/>
                    <a:lstStyle/>
                    <a:p>
                      <a:r>
                        <a:rPr lang="en-US" dirty="0"/>
                        <a:t>Visual RS</a:t>
                      </a:r>
                      <a:endParaRPr lang="ru-KZ" dirty="0"/>
                    </a:p>
                  </a:txBody>
                  <a:tcPr/>
                </a:tc>
                <a:tc>
                  <a:txBody>
                    <a:bodyPr/>
                    <a:lstStyle/>
                    <a:p>
                      <a:r>
                        <a:rPr lang="en-US" dirty="0"/>
                        <a:t>Art</a:t>
                      </a:r>
                      <a:endParaRPr lang="ru-KZ" dirty="0"/>
                    </a:p>
                  </a:txBody>
                  <a:tcPr/>
                </a:tc>
                <a:tc>
                  <a:txBody>
                    <a:bodyPr/>
                    <a:lstStyle/>
                    <a:p>
                      <a:r>
                        <a:rPr lang="en-US" dirty="0"/>
                        <a:t>Interactive system</a:t>
                      </a:r>
                      <a:endParaRPr lang="ru-KZ" dirty="0"/>
                    </a:p>
                  </a:txBody>
                  <a:tcPr/>
                </a:tc>
                <a:extLst>
                  <a:ext uri="{0D108BD9-81ED-4DB2-BD59-A6C34878D82A}">
                    <a16:rowId xmlns:a16="http://schemas.microsoft.com/office/drawing/2014/main" val="1937637830"/>
                  </a:ext>
                </a:extLst>
              </a:tr>
              <a:tr h="370840">
                <a:tc>
                  <a:txBody>
                    <a:bodyPr/>
                    <a:lstStyle/>
                    <a:p>
                      <a:r>
                        <a:rPr lang="en-US" dirty="0"/>
                        <a:t>Radford et al. (2021)</a:t>
                      </a:r>
                      <a:endParaRPr lang="ru-KZ" dirty="0"/>
                    </a:p>
                  </a:txBody>
                  <a:tcPr/>
                </a:tc>
                <a:tc>
                  <a:txBody>
                    <a:bodyPr/>
                    <a:lstStyle/>
                    <a:p>
                      <a:r>
                        <a:rPr lang="en-US" dirty="0"/>
                        <a:t>CLIP</a:t>
                      </a:r>
                      <a:endParaRPr lang="ru-KZ" dirty="0"/>
                    </a:p>
                  </a:txBody>
                  <a:tcPr/>
                </a:tc>
                <a:tc>
                  <a:txBody>
                    <a:bodyPr/>
                    <a:lstStyle/>
                    <a:p>
                      <a:r>
                        <a:rPr lang="en-US" dirty="0"/>
                        <a:t>AI</a:t>
                      </a:r>
                      <a:endParaRPr lang="ru-KZ" dirty="0"/>
                    </a:p>
                  </a:txBody>
                  <a:tcPr/>
                </a:tc>
                <a:tc>
                  <a:txBody>
                    <a:bodyPr/>
                    <a:lstStyle/>
                    <a:p>
                      <a:r>
                        <a:rPr lang="en-US" dirty="0"/>
                        <a:t>Image embeddings</a:t>
                      </a:r>
                      <a:endParaRPr lang="ru-KZ" dirty="0"/>
                    </a:p>
                  </a:txBody>
                  <a:tcPr/>
                </a:tc>
                <a:extLst>
                  <a:ext uri="{0D108BD9-81ED-4DB2-BD59-A6C34878D82A}">
                    <a16:rowId xmlns:a16="http://schemas.microsoft.com/office/drawing/2014/main" val="1359869126"/>
                  </a:ext>
                </a:extLst>
              </a:tr>
              <a:tr h="370840">
                <a:tc>
                  <a:txBody>
                    <a:bodyPr/>
                    <a:lstStyle/>
                    <a:p>
                      <a:r>
                        <a:rPr lang="en-US" dirty="0"/>
                        <a:t>Steck et al. (2024)</a:t>
                      </a:r>
                      <a:endParaRPr lang="ru-KZ" dirty="0"/>
                    </a:p>
                  </a:txBody>
                  <a:tcPr/>
                </a:tc>
                <a:tc>
                  <a:txBody>
                    <a:bodyPr/>
                    <a:lstStyle/>
                    <a:p>
                      <a:r>
                        <a:rPr lang="en-US" dirty="0"/>
                        <a:t>Similarity metrics</a:t>
                      </a:r>
                      <a:endParaRPr lang="ru-KZ" dirty="0"/>
                    </a:p>
                  </a:txBody>
                  <a:tcPr/>
                </a:tc>
                <a:tc>
                  <a:txBody>
                    <a:bodyPr/>
                    <a:lstStyle/>
                    <a:p>
                      <a:pPr>
                        <a:buNone/>
                      </a:pPr>
                      <a:r>
                        <a:rPr lang="en-US" dirty="0"/>
                        <a:t>ML</a:t>
                      </a:r>
                      <a:endParaRPr lang="ru-KZ" dirty="0"/>
                    </a:p>
                  </a:txBody>
                  <a:tcPr anchor="ctr"/>
                </a:tc>
                <a:tc>
                  <a:txBody>
                    <a:bodyPr/>
                    <a:lstStyle/>
                    <a:p>
                      <a:r>
                        <a:rPr lang="en-US" dirty="0"/>
                        <a:t>Cosine similarity analysis</a:t>
                      </a:r>
                      <a:endParaRPr lang="ru-KZ" dirty="0"/>
                    </a:p>
                  </a:txBody>
                  <a:tcPr/>
                </a:tc>
                <a:extLst>
                  <a:ext uri="{0D108BD9-81ED-4DB2-BD59-A6C34878D82A}">
                    <a16:rowId xmlns:a16="http://schemas.microsoft.com/office/drawing/2014/main" val="2497139619"/>
                  </a:ext>
                </a:extLst>
              </a:tr>
            </a:tbl>
          </a:graphicData>
        </a:graphic>
      </p:graphicFrame>
      <p:sp>
        <p:nvSpPr>
          <p:cNvPr id="6" name="TextBox 5">
            <a:extLst>
              <a:ext uri="{FF2B5EF4-FFF2-40B4-BE49-F238E27FC236}">
                <a16:creationId xmlns:a16="http://schemas.microsoft.com/office/drawing/2014/main" id="{74457519-C97E-BCE7-2E32-88B7C0918EDB}"/>
              </a:ext>
            </a:extLst>
          </p:cNvPr>
          <p:cNvSpPr txBox="1"/>
          <p:nvPr/>
        </p:nvSpPr>
        <p:spPr>
          <a:xfrm>
            <a:off x="3439886" y="5964544"/>
            <a:ext cx="6041571" cy="369332"/>
          </a:xfrm>
          <a:prstGeom prst="rect">
            <a:avLst/>
          </a:prstGeom>
          <a:noFill/>
        </p:spPr>
        <p:txBody>
          <a:bodyPr wrap="square" rtlCol="0">
            <a:spAutoFit/>
          </a:bodyPr>
          <a:lstStyle/>
          <a:p>
            <a:r>
              <a:rPr lang="en-US" dirty="0"/>
              <a:t>Table 1. Comparative Analysis of Literary Sources</a:t>
            </a:r>
            <a:endParaRPr lang="ru-KZ" dirty="0"/>
          </a:p>
        </p:txBody>
      </p:sp>
    </p:spTree>
    <p:extLst>
      <p:ext uri="{BB962C8B-B14F-4D97-AF65-F5344CB8AC3E}">
        <p14:creationId xmlns:p14="http://schemas.microsoft.com/office/powerpoint/2010/main" val="539693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AAA6A0-7AAC-7A90-8B88-8C7F61EA4221}"/>
              </a:ext>
            </a:extLst>
          </p:cNvPr>
          <p:cNvSpPr>
            <a:spLocks noGrp="1"/>
          </p:cNvSpPr>
          <p:nvPr>
            <p:ph type="title"/>
          </p:nvPr>
        </p:nvSpPr>
        <p:spPr>
          <a:xfrm>
            <a:off x="783773" y="532626"/>
            <a:ext cx="10515600" cy="1325563"/>
          </a:xfrm>
        </p:spPr>
        <p:txBody>
          <a:bodyPr/>
          <a:lstStyle/>
          <a:p>
            <a:r>
              <a:rPr lang="en-US" dirty="0"/>
              <a:t>Comparative Analysis of Competitors</a:t>
            </a:r>
            <a:endParaRPr lang="ru-KZ" dirty="0"/>
          </a:p>
        </p:txBody>
      </p:sp>
      <p:graphicFrame>
        <p:nvGraphicFramePr>
          <p:cNvPr id="4" name="Объект 3">
            <a:extLst>
              <a:ext uri="{FF2B5EF4-FFF2-40B4-BE49-F238E27FC236}">
                <a16:creationId xmlns:a16="http://schemas.microsoft.com/office/drawing/2014/main" id="{C7671146-7265-AB46-72AB-3AA5EFF50B31}"/>
              </a:ext>
            </a:extLst>
          </p:cNvPr>
          <p:cNvGraphicFramePr>
            <a:graphicFrameLocks noGrp="1"/>
          </p:cNvGraphicFramePr>
          <p:nvPr>
            <p:ph idx="1"/>
            <p:extLst>
              <p:ext uri="{D42A27DB-BD31-4B8C-83A1-F6EECF244321}">
                <p14:modId xmlns:p14="http://schemas.microsoft.com/office/powerpoint/2010/main" val="2790522006"/>
              </p:ext>
            </p:extLst>
          </p:nvPr>
        </p:nvGraphicFramePr>
        <p:xfrm>
          <a:off x="783773" y="2073045"/>
          <a:ext cx="10907484" cy="3962748"/>
        </p:xfrm>
        <a:graphic>
          <a:graphicData uri="http://schemas.openxmlformats.org/drawingml/2006/table">
            <a:tbl>
              <a:tblPr firstRow="1" firstCol="1" bandRow="1">
                <a:tableStyleId>{5940675A-B579-460E-94D1-54222C63F5DA}</a:tableStyleId>
              </a:tblPr>
              <a:tblGrid>
                <a:gridCol w="2481941">
                  <a:extLst>
                    <a:ext uri="{9D8B030D-6E8A-4147-A177-3AD203B41FA5}">
                      <a16:colId xmlns:a16="http://schemas.microsoft.com/office/drawing/2014/main" val="35874721"/>
                    </a:ext>
                  </a:extLst>
                </a:gridCol>
                <a:gridCol w="2286000">
                  <a:extLst>
                    <a:ext uri="{9D8B030D-6E8A-4147-A177-3AD203B41FA5}">
                      <a16:colId xmlns:a16="http://schemas.microsoft.com/office/drawing/2014/main" val="1592125106"/>
                    </a:ext>
                  </a:extLst>
                </a:gridCol>
                <a:gridCol w="2394857">
                  <a:extLst>
                    <a:ext uri="{9D8B030D-6E8A-4147-A177-3AD203B41FA5}">
                      <a16:colId xmlns:a16="http://schemas.microsoft.com/office/drawing/2014/main" val="553398201"/>
                    </a:ext>
                  </a:extLst>
                </a:gridCol>
                <a:gridCol w="1676400">
                  <a:extLst>
                    <a:ext uri="{9D8B030D-6E8A-4147-A177-3AD203B41FA5}">
                      <a16:colId xmlns:a16="http://schemas.microsoft.com/office/drawing/2014/main" val="1283411101"/>
                    </a:ext>
                  </a:extLst>
                </a:gridCol>
                <a:gridCol w="2068286">
                  <a:extLst>
                    <a:ext uri="{9D8B030D-6E8A-4147-A177-3AD203B41FA5}">
                      <a16:colId xmlns:a16="http://schemas.microsoft.com/office/drawing/2014/main" val="487832410"/>
                    </a:ext>
                  </a:extLst>
                </a:gridCol>
              </a:tblGrid>
              <a:tr h="283852">
                <a:tc>
                  <a:txBody>
                    <a:bodyPr/>
                    <a:lstStyle/>
                    <a:p>
                      <a:pPr indent="450215" algn="l">
                        <a:lnSpc>
                          <a:spcPct val="115000"/>
                        </a:lnSpc>
                        <a:buNone/>
                      </a:pPr>
                      <a:r>
                        <a:rPr lang="en-US" sz="1600" kern="100" dirty="0">
                          <a:effectLst/>
                        </a:rPr>
                        <a:t>Criteria</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Google Arts &amp; Culture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450215" algn="l">
                        <a:lnSpc>
                          <a:spcPct val="115000"/>
                        </a:lnSpc>
                        <a:buNone/>
                      </a:pPr>
                      <a:r>
                        <a:rPr lang="en-US" sz="1600" kern="100" dirty="0" err="1">
                          <a:effectLst/>
                        </a:rPr>
                        <a:t>Smartify</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Metropolitan Museum of Art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spcBef>
                          <a:spcPts val="1200"/>
                        </a:spcBef>
                        <a:spcAft>
                          <a:spcPts val="1200"/>
                        </a:spcAft>
                        <a:buNone/>
                      </a:pPr>
                      <a:r>
                        <a:rPr lang="en-US" sz="1600" kern="100" dirty="0">
                          <a:effectLst/>
                        </a:rPr>
                        <a:t>Rijksmuseum</a:t>
                      </a:r>
                      <a:endParaRPr lang="ru-KZ" sz="1600" kern="1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315004621"/>
                  </a:ext>
                </a:extLst>
              </a:tr>
              <a:tr h="287993">
                <a:tc>
                  <a:txBody>
                    <a:bodyPr/>
                    <a:lstStyle/>
                    <a:p>
                      <a:pPr indent="0" algn="l">
                        <a:lnSpc>
                          <a:spcPct val="115000"/>
                        </a:lnSpc>
                        <a:buNone/>
                      </a:pPr>
                      <a:r>
                        <a:rPr lang="en-US" sz="1600" kern="100" dirty="0">
                          <a:effectLst/>
                        </a:rPr>
                        <a:t>System Type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Web platform</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Mobile application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Museum website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Museum website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1475744831"/>
                  </a:ext>
                </a:extLst>
              </a:tr>
              <a:tr h="438068">
                <a:tc>
                  <a:txBody>
                    <a:bodyPr/>
                    <a:lstStyle/>
                    <a:p>
                      <a:pPr indent="0" algn="l">
                        <a:lnSpc>
                          <a:spcPct val="115000"/>
                        </a:lnSpc>
                        <a:buNone/>
                      </a:pPr>
                      <a:r>
                        <a:rPr lang="en-US" sz="1600" kern="100" dirty="0">
                          <a:effectLst/>
                        </a:rPr>
                        <a:t>Main Function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Collection browsing, virtual tours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Artwork recognition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Online collection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Online collection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2225234355"/>
                  </a:ext>
                </a:extLst>
              </a:tr>
              <a:tr h="287993">
                <a:tc>
                  <a:txBody>
                    <a:bodyPr/>
                    <a:lstStyle/>
                    <a:p>
                      <a:pPr indent="0" algn="l">
                        <a:lnSpc>
                          <a:spcPct val="115000"/>
                        </a:lnSpc>
                        <a:buNone/>
                      </a:pPr>
                      <a:r>
                        <a:rPr lang="en-US" sz="1600" kern="100" dirty="0">
                          <a:effectLst/>
                        </a:rPr>
                        <a:t>Personalization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Limited</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Minimal</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None / weak</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Limited</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4242809665"/>
                  </a:ext>
                </a:extLst>
              </a:tr>
              <a:tr h="438068">
                <a:tc>
                  <a:txBody>
                    <a:bodyPr/>
                    <a:lstStyle/>
                    <a:p>
                      <a:pPr indent="0" algn="l">
                        <a:lnSpc>
                          <a:spcPct val="115000"/>
                        </a:lnSpc>
                        <a:buNone/>
                      </a:pPr>
                      <a:r>
                        <a:rPr lang="en-US" sz="1600" kern="100" dirty="0">
                          <a:effectLst/>
                        </a:rPr>
                        <a:t>Recommendation Systems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Basic (similar artworks)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Almost none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None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a:effectLst/>
                        </a:rPr>
                        <a:t>Partial (category-based)</a:t>
                      </a:r>
                      <a:endParaRPr lang="ru-KZ" sz="1600" kern="10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427001820"/>
                  </a:ext>
                </a:extLst>
              </a:tr>
              <a:tr h="438068">
                <a:tc>
                  <a:txBody>
                    <a:bodyPr/>
                    <a:lstStyle/>
                    <a:p>
                      <a:pPr indent="0" algn="l">
                        <a:lnSpc>
                          <a:spcPct val="115000"/>
                        </a:lnSpc>
                        <a:buNone/>
                      </a:pPr>
                      <a:r>
                        <a:rPr lang="en-US" sz="1600" kern="100" dirty="0">
                          <a:effectLst/>
                        </a:rPr>
                        <a:t>Use of AI</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Partial</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Yes (image recognition)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Minimal</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Minimal</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2314481124"/>
                  </a:ext>
                </a:extLst>
              </a:tr>
              <a:tr h="287993">
                <a:tc>
                  <a:txBody>
                    <a:bodyPr/>
                    <a:lstStyle/>
                    <a:p>
                      <a:pPr indent="0" algn="l">
                        <a:lnSpc>
                          <a:spcPct val="115000"/>
                        </a:lnSpc>
                        <a:buNone/>
                      </a:pPr>
                      <a:r>
                        <a:rPr lang="en-US" sz="1600" kern="100" dirty="0">
                          <a:effectLst/>
                        </a:rPr>
                        <a:t>Interest-based Navigation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Limited</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None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None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Limited</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2153707122"/>
                  </a:ext>
                </a:extLst>
              </a:tr>
              <a:tr h="438068">
                <a:tc>
                  <a:txBody>
                    <a:bodyPr/>
                    <a:lstStyle/>
                    <a:p>
                      <a:pPr indent="0" algn="l">
                        <a:lnSpc>
                          <a:spcPct val="115000"/>
                        </a:lnSpc>
                        <a:buNone/>
                      </a:pPr>
                      <a:r>
                        <a:rPr lang="en-US" sz="1600" kern="100" dirty="0">
                          <a:effectLst/>
                        </a:rPr>
                        <a:t>User Collection Creation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Yes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a:effectLst/>
                        </a:rPr>
                        <a:t>No</a:t>
                      </a:r>
                      <a:endParaRPr lang="ru-KZ" sz="1600" kern="10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Yes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Yes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2668588358"/>
                  </a:ext>
                </a:extLst>
              </a:tr>
              <a:tr h="588143">
                <a:tc>
                  <a:txBody>
                    <a:bodyPr/>
                    <a:lstStyle/>
                    <a:p>
                      <a:pPr indent="0" algn="l">
                        <a:lnSpc>
                          <a:spcPct val="115000"/>
                        </a:lnSpc>
                        <a:buNone/>
                      </a:pPr>
                      <a:r>
                        <a:rPr lang="en-US" sz="1600" kern="100" dirty="0">
                          <a:effectLst/>
                        </a:rPr>
                        <a:t>Main Limitation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Lack of deep personalization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Lack of recommendation features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Lack of personalization</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kern="100" dirty="0">
                          <a:effectLst/>
                        </a:rPr>
                        <a:t>Lack of AI-based recommendations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788946141"/>
                  </a:ext>
                </a:extLst>
              </a:tr>
            </a:tbl>
          </a:graphicData>
        </a:graphic>
      </p:graphicFrame>
      <p:pic>
        <p:nvPicPr>
          <p:cNvPr id="5" name="Рисунок 4"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F099A9CD-4837-A76E-BF51-429453E67146}"/>
              </a:ext>
            </a:extLst>
          </p:cNvPr>
          <p:cNvPicPr>
            <a:picLocks noChangeAspect="1"/>
          </p:cNvPicPr>
          <p:nvPr/>
        </p:nvPicPr>
        <p:blipFill>
          <a:blip r:embed="rId2"/>
          <a:stretch>
            <a:fillRect/>
          </a:stretch>
        </p:blipFill>
        <p:spPr>
          <a:xfrm>
            <a:off x="9550683" y="532626"/>
            <a:ext cx="2325629" cy="987554"/>
          </a:xfrm>
          <a:prstGeom prst="rect">
            <a:avLst/>
          </a:prstGeom>
        </p:spPr>
      </p:pic>
      <p:sp>
        <p:nvSpPr>
          <p:cNvPr id="6" name="TextBox 5">
            <a:extLst>
              <a:ext uri="{FF2B5EF4-FFF2-40B4-BE49-F238E27FC236}">
                <a16:creationId xmlns:a16="http://schemas.microsoft.com/office/drawing/2014/main" id="{D9865D7C-74FB-EF65-0EAF-8DD1F8E60780}"/>
              </a:ext>
            </a:extLst>
          </p:cNvPr>
          <p:cNvSpPr txBox="1"/>
          <p:nvPr/>
        </p:nvSpPr>
        <p:spPr>
          <a:xfrm>
            <a:off x="3810000" y="6237514"/>
            <a:ext cx="5740683" cy="369332"/>
          </a:xfrm>
          <a:prstGeom prst="rect">
            <a:avLst/>
          </a:prstGeom>
          <a:noFill/>
        </p:spPr>
        <p:txBody>
          <a:bodyPr wrap="square" rtlCol="0">
            <a:spAutoFit/>
          </a:bodyPr>
          <a:lstStyle/>
          <a:p>
            <a:r>
              <a:rPr lang="en-US" dirty="0"/>
              <a:t>Table 2. Comparative analysis of the systems</a:t>
            </a:r>
            <a:endParaRPr lang="ru-KZ" dirty="0"/>
          </a:p>
        </p:txBody>
      </p:sp>
    </p:spTree>
    <p:extLst>
      <p:ext uri="{BB962C8B-B14F-4D97-AF65-F5344CB8AC3E}">
        <p14:creationId xmlns:p14="http://schemas.microsoft.com/office/powerpoint/2010/main" val="3200051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EED39-5297-BAD9-65DE-0CF391FAB64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007E1A-7A93-8051-92A5-4BF07044A063}"/>
              </a:ext>
            </a:extLst>
          </p:cNvPr>
          <p:cNvSpPr>
            <a:spLocks noGrp="1"/>
          </p:cNvSpPr>
          <p:nvPr>
            <p:ph type="title"/>
          </p:nvPr>
        </p:nvSpPr>
        <p:spPr>
          <a:xfrm>
            <a:off x="739773" y="424543"/>
            <a:ext cx="3932238" cy="718457"/>
          </a:xfrm>
        </p:spPr>
        <p:txBody>
          <a:bodyPr/>
          <a:lstStyle/>
          <a:p>
            <a:r>
              <a:rPr lang="en-US" dirty="0"/>
              <a:t>Dataset Selection</a:t>
            </a:r>
            <a:endParaRPr lang="ru-KZ" dirty="0"/>
          </a:p>
        </p:txBody>
      </p:sp>
      <p:sp>
        <p:nvSpPr>
          <p:cNvPr id="4" name="Текст 3">
            <a:extLst>
              <a:ext uri="{FF2B5EF4-FFF2-40B4-BE49-F238E27FC236}">
                <a16:creationId xmlns:a16="http://schemas.microsoft.com/office/drawing/2014/main" id="{BB36D4E8-330F-D59A-3150-FE02EC6C9D65}"/>
              </a:ext>
            </a:extLst>
          </p:cNvPr>
          <p:cNvSpPr>
            <a:spLocks noGrp="1"/>
          </p:cNvSpPr>
          <p:nvPr>
            <p:ph type="body" sz="half" idx="2"/>
          </p:nvPr>
        </p:nvSpPr>
        <p:spPr>
          <a:xfrm>
            <a:off x="739774" y="1143000"/>
            <a:ext cx="3932237" cy="391886"/>
          </a:xfrm>
        </p:spPr>
        <p:txBody>
          <a:bodyPr/>
          <a:lstStyle/>
          <a:p>
            <a:r>
              <a:rPr lang="en-US" dirty="0"/>
              <a:t>Analysis of available data sources</a:t>
            </a:r>
            <a:endParaRPr lang="ru-KZ" dirty="0"/>
          </a:p>
          <a:p>
            <a:endParaRPr lang="ru-KZ" dirty="0"/>
          </a:p>
        </p:txBody>
      </p:sp>
      <p:graphicFrame>
        <p:nvGraphicFramePr>
          <p:cNvPr id="12" name="Объект 3">
            <a:extLst>
              <a:ext uri="{FF2B5EF4-FFF2-40B4-BE49-F238E27FC236}">
                <a16:creationId xmlns:a16="http://schemas.microsoft.com/office/drawing/2014/main" id="{8095E307-F967-145E-3901-F285A469221E}"/>
              </a:ext>
            </a:extLst>
          </p:cNvPr>
          <p:cNvGraphicFramePr>
            <a:graphicFrameLocks/>
          </p:cNvGraphicFramePr>
          <p:nvPr>
            <p:extLst>
              <p:ext uri="{D42A27DB-BD31-4B8C-83A1-F6EECF244321}">
                <p14:modId xmlns:p14="http://schemas.microsoft.com/office/powerpoint/2010/main" val="564385790"/>
              </p:ext>
            </p:extLst>
          </p:nvPr>
        </p:nvGraphicFramePr>
        <p:xfrm>
          <a:off x="739773" y="1665515"/>
          <a:ext cx="10907484" cy="4804410"/>
        </p:xfrm>
        <a:graphic>
          <a:graphicData uri="http://schemas.openxmlformats.org/drawingml/2006/table">
            <a:tbl>
              <a:tblPr firstRow="1" firstCol="1" bandRow="1">
                <a:tableStyleId>{5940675A-B579-460E-94D1-54222C63F5DA}</a:tableStyleId>
              </a:tblPr>
              <a:tblGrid>
                <a:gridCol w="1905456">
                  <a:extLst>
                    <a:ext uri="{9D8B030D-6E8A-4147-A177-3AD203B41FA5}">
                      <a16:colId xmlns:a16="http://schemas.microsoft.com/office/drawing/2014/main" val="35874721"/>
                    </a:ext>
                  </a:extLst>
                </a:gridCol>
                <a:gridCol w="1839685">
                  <a:extLst>
                    <a:ext uri="{9D8B030D-6E8A-4147-A177-3AD203B41FA5}">
                      <a16:colId xmlns:a16="http://schemas.microsoft.com/office/drawing/2014/main" val="1592125106"/>
                    </a:ext>
                  </a:extLst>
                </a:gridCol>
                <a:gridCol w="3080657">
                  <a:extLst>
                    <a:ext uri="{9D8B030D-6E8A-4147-A177-3AD203B41FA5}">
                      <a16:colId xmlns:a16="http://schemas.microsoft.com/office/drawing/2014/main" val="553398201"/>
                    </a:ext>
                  </a:extLst>
                </a:gridCol>
                <a:gridCol w="2307772">
                  <a:extLst>
                    <a:ext uri="{9D8B030D-6E8A-4147-A177-3AD203B41FA5}">
                      <a16:colId xmlns:a16="http://schemas.microsoft.com/office/drawing/2014/main" val="1283411101"/>
                    </a:ext>
                  </a:extLst>
                </a:gridCol>
                <a:gridCol w="1773914">
                  <a:extLst>
                    <a:ext uri="{9D8B030D-6E8A-4147-A177-3AD203B41FA5}">
                      <a16:colId xmlns:a16="http://schemas.microsoft.com/office/drawing/2014/main" val="487832410"/>
                    </a:ext>
                  </a:extLst>
                </a:gridCol>
              </a:tblGrid>
              <a:tr h="283852">
                <a:tc>
                  <a:txBody>
                    <a:bodyPr/>
                    <a:lstStyle/>
                    <a:p>
                      <a:pPr>
                        <a:buNone/>
                      </a:pPr>
                      <a:r>
                        <a:rPr lang="en-US" dirty="0"/>
                        <a:t>Source</a:t>
                      </a:r>
                    </a:p>
                  </a:txBody>
                  <a:tcPr anchor="ctr"/>
                </a:tc>
                <a:tc>
                  <a:txBody>
                    <a:bodyPr/>
                    <a:lstStyle/>
                    <a:p>
                      <a:pPr indent="0" algn="l">
                        <a:lnSpc>
                          <a:spcPct val="115000"/>
                        </a:lnSpc>
                        <a:buNone/>
                      </a:pPr>
                      <a:r>
                        <a:rPr lang="en-US" sz="1600" dirty="0"/>
                        <a:t>Type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Advantages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Limitations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a:buNone/>
                      </a:pPr>
                      <a:r>
                        <a:rPr lang="en-US" dirty="0"/>
                        <a:t>Conclusion</a:t>
                      </a:r>
                      <a:endParaRPr lang="ru-KZ" dirty="0"/>
                    </a:p>
                  </a:txBody>
                  <a:tcPr anchor="ctr"/>
                </a:tc>
                <a:extLst>
                  <a:ext uri="{0D108BD9-81ED-4DB2-BD59-A6C34878D82A}">
                    <a16:rowId xmlns:a16="http://schemas.microsoft.com/office/drawing/2014/main" val="315004621"/>
                  </a:ext>
                </a:extLst>
              </a:tr>
              <a:tr h="287993">
                <a:tc>
                  <a:txBody>
                    <a:bodyPr/>
                    <a:lstStyle/>
                    <a:p>
                      <a:pPr indent="0" algn="l">
                        <a:lnSpc>
                          <a:spcPct val="115000"/>
                        </a:lnSpc>
                        <a:buNone/>
                      </a:pPr>
                      <a:r>
                        <a:rPr lang="nn-NO" sz="1600" dirty="0"/>
                        <a:t>Rijksmuseum API / Metropolitan Museum of Art API</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Online APIs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Large-scale art collections </a:t>
                      </a:r>
                      <a:br>
                        <a:rPr lang="en-US" sz="1600" dirty="0"/>
                      </a:br>
                      <a:r>
                        <a:rPr lang="en-US" sz="1600" dirty="0"/>
                        <a:t>• Official museum data </a:t>
                      </a:r>
                      <a:br>
                        <a:rPr lang="en-US" sz="1600" dirty="0"/>
                      </a:br>
                      <a:r>
                        <a:rPr lang="en-US" sz="1600" dirty="0"/>
                        <a:t>• Rich metadata (artist, period, technique, etc.)</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Complex API integration </a:t>
                      </a:r>
                      <a:br>
                        <a:rPr lang="en-US" sz="1600" dirty="0"/>
                      </a:br>
                      <a:r>
                        <a:rPr lang="en-US" sz="1600" dirty="0"/>
                        <a:t>• Requires data parsing and preprocessing </a:t>
                      </a:r>
                      <a:br>
                        <a:rPr lang="en-US" sz="1600" dirty="0"/>
                      </a:br>
                      <a:r>
                        <a:rPr lang="en-US" sz="1600" dirty="0"/>
                        <a:t>• High preprocessing effort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Suitable for research-oriented projects, but too complex for an ML pipeline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1475744831"/>
                  </a:ext>
                </a:extLst>
              </a:tr>
              <a:tr h="438068">
                <a:tc>
                  <a:txBody>
                    <a:bodyPr/>
                    <a:lstStyle/>
                    <a:p>
                      <a:pPr indent="0" algn="l">
                        <a:lnSpc>
                          <a:spcPct val="115000"/>
                        </a:lnSpc>
                        <a:buNone/>
                      </a:pPr>
                      <a:r>
                        <a:rPr lang="en-US" sz="1600" dirty="0"/>
                        <a:t>Kaggle Rijksmuseum dataset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Ready-made dataset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Easy access </a:t>
                      </a:r>
                      <a:br>
                        <a:rPr lang="en-US" sz="1600" dirty="0"/>
                      </a:br>
                      <a:r>
                        <a:rPr lang="en-US" sz="1600" dirty="0"/>
                        <a:t>• Pre-structured data </a:t>
                      </a:r>
                      <a:br>
                        <a:rPr lang="en-US" sz="1600" dirty="0"/>
                      </a:br>
                      <a:r>
                        <a:rPr lang="en-US" sz="1600" dirty="0"/>
                        <a:t>• Fast to use for initial experiment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Limited number of classes (4) </a:t>
                      </a:r>
                      <a:br>
                        <a:rPr lang="en-US" sz="1600" dirty="0"/>
                      </a:br>
                      <a:r>
                        <a:rPr lang="en-US" sz="1600" dirty="0"/>
                        <a:t>• Low image diversity </a:t>
                      </a:r>
                      <a:br>
                        <a:rPr lang="en-US" sz="1600" dirty="0"/>
                      </a:br>
                      <a:r>
                        <a:rPr lang="en-US" sz="1600" dirty="0"/>
                        <a:t>• Limited generalization ability</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Suitable for baseline experiments, but not for robust models</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2225234355"/>
                  </a:ext>
                </a:extLst>
              </a:tr>
              <a:tr h="287993">
                <a:tc>
                  <a:txBody>
                    <a:bodyPr/>
                    <a:lstStyle/>
                    <a:p>
                      <a:pPr indent="0" algn="l">
                        <a:lnSpc>
                          <a:spcPct val="115000"/>
                        </a:lnSpc>
                        <a:buNone/>
                      </a:pPr>
                      <a:r>
                        <a:rPr lang="en-US" sz="1600" dirty="0" err="1"/>
                        <a:t>WikiArt</a:t>
                      </a:r>
                      <a:r>
                        <a:rPr lang="en-US" sz="1600" dirty="0"/>
                        <a:t> dataset (final choice)</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Ready-made dataset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High diversity of artistic styles </a:t>
                      </a:r>
                      <a:br>
                        <a:rPr lang="en-US" sz="1600" dirty="0"/>
                      </a:br>
                      <a:r>
                        <a:rPr lang="en-US" sz="1600" dirty="0"/>
                        <a:t>• Rich art categories </a:t>
                      </a:r>
                      <a:br>
                        <a:rPr lang="en-US" sz="1600" dirty="0"/>
                      </a:br>
                      <a:r>
                        <a:rPr lang="en-US" sz="1600" dirty="0"/>
                        <a:t>• Suitable for visual analysis and ML tasks </a:t>
                      </a:r>
                      <a:br>
                        <a:rPr lang="en-US" sz="1600" dirty="0"/>
                      </a:br>
                      <a:r>
                        <a:rPr lang="en-US" sz="1600" dirty="0"/>
                        <a:t>• Better balance across styles</a:t>
                      </a:r>
                      <a:endParaRPr lang="ru-KZ" sz="1600" b="1"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 Noisy metadata possible </a:t>
                      </a:r>
                      <a:br>
                        <a:rPr lang="en-US" sz="1600" dirty="0"/>
                      </a:br>
                      <a:r>
                        <a:rPr lang="en-US" sz="1600" dirty="0"/>
                        <a:t>• Requires data cleaning</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tc>
                  <a:txBody>
                    <a:bodyPr/>
                    <a:lstStyle/>
                    <a:p>
                      <a:pPr indent="0" algn="l">
                        <a:lnSpc>
                          <a:spcPct val="115000"/>
                        </a:lnSpc>
                        <a:buNone/>
                      </a:pPr>
                      <a:r>
                        <a:rPr lang="en-US" sz="1600" dirty="0"/>
                        <a:t>Optimal choice for the project (final dataset)</a:t>
                      </a:r>
                      <a:endParaRPr lang="ru-KZ" sz="1600" kern="100" dirty="0">
                        <a:effectLst/>
                        <a:latin typeface="Arial" panose="020B0604020202020204" pitchFamily="34" charset="0"/>
                        <a:ea typeface="Arial" panose="020B0604020202020204" pitchFamily="34" charset="0"/>
                        <a:cs typeface="Times New Roman" panose="02020603050405020304" pitchFamily="18" charset="0"/>
                      </a:endParaRPr>
                    </a:p>
                  </a:txBody>
                  <a:tcPr marL="41946" marR="41946" marT="0" marB="0"/>
                </a:tc>
                <a:extLst>
                  <a:ext uri="{0D108BD9-81ED-4DB2-BD59-A6C34878D82A}">
                    <a16:rowId xmlns:a16="http://schemas.microsoft.com/office/drawing/2014/main" val="4242809665"/>
                  </a:ext>
                </a:extLst>
              </a:tr>
            </a:tbl>
          </a:graphicData>
        </a:graphic>
      </p:graphicFrame>
      <p:sp>
        <p:nvSpPr>
          <p:cNvPr id="3" name="TextBox 2">
            <a:extLst>
              <a:ext uri="{FF2B5EF4-FFF2-40B4-BE49-F238E27FC236}">
                <a16:creationId xmlns:a16="http://schemas.microsoft.com/office/drawing/2014/main" id="{1697770B-14AD-CB9C-86F5-ADC38BF5EC98}"/>
              </a:ext>
            </a:extLst>
          </p:cNvPr>
          <p:cNvSpPr txBox="1"/>
          <p:nvPr/>
        </p:nvSpPr>
        <p:spPr>
          <a:xfrm>
            <a:off x="3918857" y="6488668"/>
            <a:ext cx="5740683" cy="369332"/>
          </a:xfrm>
          <a:prstGeom prst="rect">
            <a:avLst/>
          </a:prstGeom>
          <a:noFill/>
        </p:spPr>
        <p:txBody>
          <a:bodyPr wrap="square" rtlCol="0">
            <a:spAutoFit/>
          </a:bodyPr>
          <a:lstStyle/>
          <a:p>
            <a:r>
              <a:rPr lang="en-US" dirty="0"/>
              <a:t>Table </a:t>
            </a:r>
            <a:r>
              <a:rPr lang="ru-RU" dirty="0"/>
              <a:t>3</a:t>
            </a:r>
            <a:r>
              <a:rPr lang="en-US" dirty="0"/>
              <a:t>. Comparative analysis of the datasets</a:t>
            </a:r>
            <a:endParaRPr lang="ru-KZ" dirty="0"/>
          </a:p>
        </p:txBody>
      </p:sp>
      <p:pic>
        <p:nvPicPr>
          <p:cNvPr id="5" name="Рисунок 4"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150B5C9E-59B8-1059-D6C3-807D85D66040}"/>
              </a:ext>
            </a:extLst>
          </p:cNvPr>
          <p:cNvPicPr>
            <a:picLocks noChangeAspect="1"/>
          </p:cNvPicPr>
          <p:nvPr/>
        </p:nvPicPr>
        <p:blipFill>
          <a:blip r:embed="rId2"/>
          <a:stretch>
            <a:fillRect/>
          </a:stretch>
        </p:blipFill>
        <p:spPr>
          <a:xfrm>
            <a:off x="9015698" y="416704"/>
            <a:ext cx="2325629" cy="987554"/>
          </a:xfrm>
          <a:prstGeom prst="rect">
            <a:avLst/>
          </a:prstGeom>
        </p:spPr>
      </p:pic>
    </p:spTree>
    <p:extLst>
      <p:ext uri="{BB962C8B-B14F-4D97-AF65-F5344CB8AC3E}">
        <p14:creationId xmlns:p14="http://schemas.microsoft.com/office/powerpoint/2010/main" val="4041789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30213A-FF7C-C4D6-4FAD-6C99C3AB209A}"/>
              </a:ext>
            </a:extLst>
          </p:cNvPr>
          <p:cNvSpPr>
            <a:spLocks noGrp="1"/>
          </p:cNvSpPr>
          <p:nvPr>
            <p:ph type="title"/>
          </p:nvPr>
        </p:nvSpPr>
        <p:spPr/>
        <p:txBody>
          <a:bodyPr/>
          <a:lstStyle/>
          <a:p>
            <a:r>
              <a:rPr lang="en-US" dirty="0"/>
              <a:t>Dataset Selection</a:t>
            </a:r>
            <a:endParaRPr lang="ru-KZ" dirty="0"/>
          </a:p>
        </p:txBody>
      </p:sp>
      <p:pic>
        <p:nvPicPr>
          <p:cNvPr id="5" name="Рисунок 4"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04CC3B91-33C1-B89A-CC80-6FAC50F37E16}"/>
              </a:ext>
            </a:extLst>
          </p:cNvPr>
          <p:cNvPicPr>
            <a:picLocks noChangeAspect="1"/>
          </p:cNvPicPr>
          <p:nvPr/>
        </p:nvPicPr>
        <p:blipFill>
          <a:blip r:embed="rId2"/>
          <a:stretch>
            <a:fillRect/>
          </a:stretch>
        </p:blipFill>
        <p:spPr>
          <a:xfrm>
            <a:off x="9015698" y="416704"/>
            <a:ext cx="2325629" cy="987554"/>
          </a:xfrm>
          <a:prstGeom prst="rect">
            <a:avLst/>
          </a:prstGeom>
        </p:spPr>
      </p:pic>
      <p:pic>
        <p:nvPicPr>
          <p:cNvPr id="6" name="Объект 5">
            <a:extLst>
              <a:ext uri="{FF2B5EF4-FFF2-40B4-BE49-F238E27FC236}">
                <a16:creationId xmlns:a16="http://schemas.microsoft.com/office/drawing/2014/main" id="{61A0C71F-E001-EBE4-DEF9-6EA03229B173}"/>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2980391"/>
            <a:ext cx="5181600" cy="2041805"/>
          </a:xfrm>
          <a:prstGeom prst="rect">
            <a:avLst/>
          </a:prstGeom>
          <a:noFill/>
          <a:ln>
            <a:noFill/>
          </a:ln>
        </p:spPr>
      </p:pic>
      <p:pic>
        <p:nvPicPr>
          <p:cNvPr id="11" name="Объект 10">
            <a:extLst>
              <a:ext uri="{FF2B5EF4-FFF2-40B4-BE49-F238E27FC236}">
                <a16:creationId xmlns:a16="http://schemas.microsoft.com/office/drawing/2014/main" id="{231030B1-CD93-3CE7-9AA1-5DC9811D6A05}"/>
              </a:ext>
            </a:extLst>
          </p:cNvPr>
          <p:cNvPicPr>
            <a:picLocks noGrp="1" noChangeAspect="1"/>
          </p:cNvPicPr>
          <p:nvPr>
            <p:ph sz="half" idx="2"/>
          </p:nvPr>
        </p:nvPicPr>
        <p:blipFill>
          <a:blip r:embed="rId4"/>
          <a:stretch>
            <a:fillRect/>
          </a:stretch>
        </p:blipFill>
        <p:spPr>
          <a:xfrm>
            <a:off x="6172200" y="2832522"/>
            <a:ext cx="5181600" cy="2337543"/>
          </a:xfrm>
          <a:prstGeom prst="rect">
            <a:avLst/>
          </a:prstGeom>
        </p:spPr>
      </p:pic>
      <p:sp>
        <p:nvSpPr>
          <p:cNvPr id="12" name="TextBox 11">
            <a:extLst>
              <a:ext uri="{FF2B5EF4-FFF2-40B4-BE49-F238E27FC236}">
                <a16:creationId xmlns:a16="http://schemas.microsoft.com/office/drawing/2014/main" id="{93F614BD-C649-53C9-823C-4DFA7056FDEF}"/>
              </a:ext>
            </a:extLst>
          </p:cNvPr>
          <p:cNvSpPr txBox="1"/>
          <p:nvPr/>
        </p:nvSpPr>
        <p:spPr>
          <a:xfrm>
            <a:off x="1245996" y="5747657"/>
            <a:ext cx="4391129" cy="369332"/>
          </a:xfrm>
          <a:prstGeom prst="rect">
            <a:avLst/>
          </a:prstGeom>
          <a:noFill/>
        </p:spPr>
        <p:txBody>
          <a:bodyPr wrap="square" rtlCol="0">
            <a:spAutoFit/>
          </a:bodyPr>
          <a:lstStyle/>
          <a:p>
            <a:r>
              <a:rPr lang="en-US" dirty="0"/>
              <a:t>Figure 1. </a:t>
            </a:r>
            <a:r>
              <a:rPr lang="nn-NO" dirty="0"/>
              <a:t>Rijksmuseum Dataset in Kaggle</a:t>
            </a:r>
            <a:r>
              <a:rPr lang="en-US" dirty="0"/>
              <a:t> </a:t>
            </a:r>
            <a:endParaRPr lang="ru-KZ" dirty="0"/>
          </a:p>
        </p:txBody>
      </p:sp>
      <p:sp>
        <p:nvSpPr>
          <p:cNvPr id="13" name="TextBox 12">
            <a:extLst>
              <a:ext uri="{FF2B5EF4-FFF2-40B4-BE49-F238E27FC236}">
                <a16:creationId xmlns:a16="http://schemas.microsoft.com/office/drawing/2014/main" id="{C4ED5EB7-35C7-3DDD-B858-8146FDECAA57}"/>
              </a:ext>
            </a:extLst>
          </p:cNvPr>
          <p:cNvSpPr txBox="1"/>
          <p:nvPr/>
        </p:nvSpPr>
        <p:spPr>
          <a:xfrm>
            <a:off x="6962671" y="5747657"/>
            <a:ext cx="4391129" cy="369332"/>
          </a:xfrm>
          <a:prstGeom prst="rect">
            <a:avLst/>
          </a:prstGeom>
          <a:noFill/>
        </p:spPr>
        <p:txBody>
          <a:bodyPr wrap="square" rtlCol="0">
            <a:spAutoFit/>
          </a:bodyPr>
          <a:lstStyle/>
          <a:p>
            <a:r>
              <a:rPr lang="en-US" dirty="0"/>
              <a:t>Figure 2. </a:t>
            </a:r>
            <a:r>
              <a:rPr lang="nn-NO" dirty="0"/>
              <a:t>WikiArt Dataset in Kaggle</a:t>
            </a:r>
            <a:r>
              <a:rPr lang="en-US" dirty="0"/>
              <a:t> </a:t>
            </a:r>
            <a:endParaRPr lang="ru-KZ" dirty="0"/>
          </a:p>
        </p:txBody>
      </p:sp>
    </p:spTree>
    <p:extLst>
      <p:ext uri="{BB962C8B-B14F-4D97-AF65-F5344CB8AC3E}">
        <p14:creationId xmlns:p14="http://schemas.microsoft.com/office/powerpoint/2010/main" val="54728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D6ACDB-48EE-138F-0566-D08340EEA62F}"/>
              </a:ext>
            </a:extLst>
          </p:cNvPr>
          <p:cNvSpPr>
            <a:spLocks noGrp="1"/>
          </p:cNvSpPr>
          <p:nvPr>
            <p:ph type="title"/>
          </p:nvPr>
        </p:nvSpPr>
        <p:spPr>
          <a:xfrm>
            <a:off x="836612" y="805542"/>
            <a:ext cx="3935413" cy="794657"/>
          </a:xfrm>
        </p:spPr>
        <p:txBody>
          <a:bodyPr/>
          <a:lstStyle/>
          <a:p>
            <a:r>
              <a:rPr lang="en-US" dirty="0"/>
              <a:t>Data </a:t>
            </a:r>
            <a:r>
              <a:rPr lang="en-US" dirty="0" err="1"/>
              <a:t>Prerocessing</a:t>
            </a:r>
            <a:endParaRPr lang="ru-KZ" dirty="0"/>
          </a:p>
        </p:txBody>
      </p:sp>
      <p:sp>
        <p:nvSpPr>
          <p:cNvPr id="4" name="Текст 3">
            <a:extLst>
              <a:ext uri="{FF2B5EF4-FFF2-40B4-BE49-F238E27FC236}">
                <a16:creationId xmlns:a16="http://schemas.microsoft.com/office/drawing/2014/main" id="{FA874101-F409-1EFC-6E51-B85CD604F169}"/>
              </a:ext>
            </a:extLst>
          </p:cNvPr>
          <p:cNvSpPr>
            <a:spLocks noGrp="1"/>
          </p:cNvSpPr>
          <p:nvPr>
            <p:ph type="body" sz="half" idx="2"/>
          </p:nvPr>
        </p:nvSpPr>
        <p:spPr>
          <a:xfrm>
            <a:off x="967240" y="2683524"/>
            <a:ext cx="2730726" cy="1088571"/>
          </a:xfrm>
        </p:spPr>
        <p:txBody>
          <a:bodyPr/>
          <a:lstStyle/>
          <a:p>
            <a:r>
              <a:rPr lang="en-US" dirty="0"/>
              <a:t>Large dataset size (~30 GB)</a:t>
            </a:r>
          </a:p>
          <a:p>
            <a:r>
              <a:rPr lang="en-US" dirty="0"/>
              <a:t>Class imbalance problem</a:t>
            </a:r>
          </a:p>
          <a:p>
            <a:endParaRPr lang="ru-KZ" dirty="0"/>
          </a:p>
        </p:txBody>
      </p:sp>
      <p:pic>
        <p:nvPicPr>
          <p:cNvPr id="5" name="Рисунок 4"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DE93DBEA-9E30-32D3-DE2E-B1CF78AF0F81}"/>
              </a:ext>
            </a:extLst>
          </p:cNvPr>
          <p:cNvPicPr>
            <a:picLocks noChangeAspect="1"/>
          </p:cNvPicPr>
          <p:nvPr/>
        </p:nvPicPr>
        <p:blipFill>
          <a:blip r:embed="rId2"/>
          <a:stretch>
            <a:fillRect/>
          </a:stretch>
        </p:blipFill>
        <p:spPr>
          <a:xfrm>
            <a:off x="8701969" y="707572"/>
            <a:ext cx="2325629" cy="987554"/>
          </a:xfrm>
          <a:prstGeom prst="rect">
            <a:avLst/>
          </a:prstGeom>
        </p:spPr>
      </p:pic>
      <p:sp>
        <p:nvSpPr>
          <p:cNvPr id="6" name="Прямоугольник 5">
            <a:extLst>
              <a:ext uri="{FF2B5EF4-FFF2-40B4-BE49-F238E27FC236}">
                <a16:creationId xmlns:a16="http://schemas.microsoft.com/office/drawing/2014/main" id="{E474761C-AA05-EEC7-3D36-F717B6932B75}"/>
              </a:ext>
            </a:extLst>
          </p:cNvPr>
          <p:cNvSpPr/>
          <p:nvPr/>
        </p:nvSpPr>
        <p:spPr>
          <a:xfrm>
            <a:off x="967240" y="1774372"/>
            <a:ext cx="2733902" cy="696686"/>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8" name="TextBox 7">
            <a:extLst>
              <a:ext uri="{FF2B5EF4-FFF2-40B4-BE49-F238E27FC236}">
                <a16:creationId xmlns:a16="http://schemas.microsoft.com/office/drawing/2014/main" id="{C834564C-BF83-1CA0-8236-64BB49405D42}"/>
              </a:ext>
            </a:extLst>
          </p:cNvPr>
          <p:cNvSpPr txBox="1"/>
          <p:nvPr/>
        </p:nvSpPr>
        <p:spPr>
          <a:xfrm>
            <a:off x="1666761" y="1938049"/>
            <a:ext cx="2275114" cy="369332"/>
          </a:xfrm>
          <a:prstGeom prst="rect">
            <a:avLst/>
          </a:prstGeom>
          <a:noFill/>
        </p:spPr>
        <p:txBody>
          <a:bodyPr wrap="square" rtlCol="0">
            <a:spAutoFit/>
          </a:bodyPr>
          <a:lstStyle/>
          <a:p>
            <a:r>
              <a:rPr lang="en-US" dirty="0"/>
              <a:t>Problems:</a:t>
            </a:r>
            <a:endParaRPr lang="ru-KZ" dirty="0"/>
          </a:p>
        </p:txBody>
      </p:sp>
      <p:sp>
        <p:nvSpPr>
          <p:cNvPr id="9" name="Прямоугольник 8">
            <a:extLst>
              <a:ext uri="{FF2B5EF4-FFF2-40B4-BE49-F238E27FC236}">
                <a16:creationId xmlns:a16="http://schemas.microsoft.com/office/drawing/2014/main" id="{2FC0668F-A3DA-6EB2-E1D2-EBB899C6AF00}"/>
              </a:ext>
            </a:extLst>
          </p:cNvPr>
          <p:cNvSpPr/>
          <p:nvPr/>
        </p:nvSpPr>
        <p:spPr>
          <a:xfrm>
            <a:off x="967240" y="3690257"/>
            <a:ext cx="2733902" cy="696686"/>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KZ"/>
          </a:p>
        </p:txBody>
      </p:sp>
      <p:sp>
        <p:nvSpPr>
          <p:cNvPr id="10" name="TextBox 9">
            <a:extLst>
              <a:ext uri="{FF2B5EF4-FFF2-40B4-BE49-F238E27FC236}">
                <a16:creationId xmlns:a16="http://schemas.microsoft.com/office/drawing/2014/main" id="{EC702BF8-D32E-0E9F-9EE6-3FCD15ACECBF}"/>
              </a:ext>
            </a:extLst>
          </p:cNvPr>
          <p:cNvSpPr txBox="1"/>
          <p:nvPr/>
        </p:nvSpPr>
        <p:spPr>
          <a:xfrm>
            <a:off x="1666761" y="3832356"/>
            <a:ext cx="2275114" cy="369332"/>
          </a:xfrm>
          <a:prstGeom prst="rect">
            <a:avLst/>
          </a:prstGeom>
          <a:noFill/>
        </p:spPr>
        <p:txBody>
          <a:bodyPr wrap="square" rtlCol="0">
            <a:spAutoFit/>
          </a:bodyPr>
          <a:lstStyle/>
          <a:p>
            <a:r>
              <a:rPr lang="en-US" dirty="0"/>
              <a:t>Solutions :</a:t>
            </a:r>
            <a:endParaRPr lang="ru-KZ" dirty="0"/>
          </a:p>
        </p:txBody>
      </p:sp>
      <p:sp>
        <p:nvSpPr>
          <p:cNvPr id="11" name="Текст 3">
            <a:extLst>
              <a:ext uri="{FF2B5EF4-FFF2-40B4-BE49-F238E27FC236}">
                <a16:creationId xmlns:a16="http://schemas.microsoft.com/office/drawing/2014/main" id="{8BF3E649-FEAC-AF14-E219-11C21C66E863}"/>
              </a:ext>
            </a:extLst>
          </p:cNvPr>
          <p:cNvSpPr txBox="1">
            <a:spLocks/>
          </p:cNvSpPr>
          <p:nvPr/>
        </p:nvSpPr>
        <p:spPr>
          <a:xfrm>
            <a:off x="967240" y="4631870"/>
            <a:ext cx="2730726" cy="166551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Dataset balancing</a:t>
            </a:r>
          </a:p>
          <a:p>
            <a:r>
              <a:rPr lang="en-US" dirty="0"/>
              <a:t>~2000 images per style</a:t>
            </a:r>
          </a:p>
          <a:p>
            <a:r>
              <a:rPr lang="en-US" dirty="0"/>
              <a:t>Custom script: build_balanced_dataset.py</a:t>
            </a:r>
          </a:p>
          <a:p>
            <a:r>
              <a:rPr lang="en-US" dirty="0"/>
              <a:t>Output: metadata_final.csv</a:t>
            </a:r>
            <a:endParaRPr lang="ru-KZ" dirty="0"/>
          </a:p>
        </p:txBody>
      </p:sp>
      <p:pic>
        <p:nvPicPr>
          <p:cNvPr id="13" name="Рисунок 12">
            <a:extLst>
              <a:ext uri="{FF2B5EF4-FFF2-40B4-BE49-F238E27FC236}">
                <a16:creationId xmlns:a16="http://schemas.microsoft.com/office/drawing/2014/main" id="{209870FD-E3AC-E301-441F-718B85914A7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7358" y="2110654"/>
            <a:ext cx="5730240" cy="1981200"/>
          </a:xfrm>
          <a:prstGeom prst="rect">
            <a:avLst/>
          </a:prstGeom>
          <a:noFill/>
          <a:ln>
            <a:noFill/>
          </a:ln>
        </p:spPr>
      </p:pic>
      <p:pic>
        <p:nvPicPr>
          <p:cNvPr id="14" name="Рисунок 13">
            <a:extLst>
              <a:ext uri="{FF2B5EF4-FFF2-40B4-BE49-F238E27FC236}">
                <a16:creationId xmlns:a16="http://schemas.microsoft.com/office/drawing/2014/main" id="{C7F37CC6-99BD-A13D-1E63-B65C0D78EC9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01168" y="4778828"/>
            <a:ext cx="5726430" cy="1371600"/>
          </a:xfrm>
          <a:prstGeom prst="rect">
            <a:avLst/>
          </a:prstGeom>
          <a:noFill/>
          <a:ln>
            <a:noFill/>
          </a:ln>
        </p:spPr>
      </p:pic>
      <p:sp>
        <p:nvSpPr>
          <p:cNvPr id="3" name="TextBox 2">
            <a:extLst>
              <a:ext uri="{FF2B5EF4-FFF2-40B4-BE49-F238E27FC236}">
                <a16:creationId xmlns:a16="http://schemas.microsoft.com/office/drawing/2014/main" id="{2553F9D4-CCF8-6849-940A-592E6D2FF8F4}"/>
              </a:ext>
            </a:extLst>
          </p:cNvPr>
          <p:cNvSpPr txBox="1"/>
          <p:nvPr/>
        </p:nvSpPr>
        <p:spPr>
          <a:xfrm>
            <a:off x="6295295" y="4262538"/>
            <a:ext cx="4391129" cy="369332"/>
          </a:xfrm>
          <a:prstGeom prst="rect">
            <a:avLst/>
          </a:prstGeom>
          <a:noFill/>
        </p:spPr>
        <p:txBody>
          <a:bodyPr wrap="square" rtlCol="0">
            <a:spAutoFit/>
          </a:bodyPr>
          <a:lstStyle/>
          <a:p>
            <a:r>
              <a:rPr lang="en-US" dirty="0"/>
              <a:t>Figure 3. Imbalance classes</a:t>
            </a:r>
            <a:endParaRPr lang="ru-KZ" dirty="0"/>
          </a:p>
        </p:txBody>
      </p:sp>
      <p:sp>
        <p:nvSpPr>
          <p:cNvPr id="7" name="TextBox 6">
            <a:extLst>
              <a:ext uri="{FF2B5EF4-FFF2-40B4-BE49-F238E27FC236}">
                <a16:creationId xmlns:a16="http://schemas.microsoft.com/office/drawing/2014/main" id="{CAE706EA-BAD6-4681-7906-A361AB966C01}"/>
              </a:ext>
            </a:extLst>
          </p:cNvPr>
          <p:cNvSpPr txBox="1"/>
          <p:nvPr/>
        </p:nvSpPr>
        <p:spPr>
          <a:xfrm>
            <a:off x="6417215" y="6037998"/>
            <a:ext cx="4391129" cy="369332"/>
          </a:xfrm>
          <a:prstGeom prst="rect">
            <a:avLst/>
          </a:prstGeom>
          <a:noFill/>
        </p:spPr>
        <p:txBody>
          <a:bodyPr wrap="square" rtlCol="0">
            <a:spAutoFit/>
          </a:bodyPr>
          <a:lstStyle/>
          <a:p>
            <a:r>
              <a:rPr lang="en-US" dirty="0"/>
              <a:t>Figure 4. Result of </a:t>
            </a:r>
            <a:r>
              <a:rPr lang="en-US" dirty="0" err="1"/>
              <a:t>preprocesing</a:t>
            </a:r>
            <a:endParaRPr lang="ru-KZ" dirty="0"/>
          </a:p>
        </p:txBody>
      </p:sp>
    </p:spTree>
    <p:extLst>
      <p:ext uri="{BB962C8B-B14F-4D97-AF65-F5344CB8AC3E}">
        <p14:creationId xmlns:p14="http://schemas.microsoft.com/office/powerpoint/2010/main" val="4285546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17EAD5-ED96-7D57-72AA-4F031D492759}"/>
              </a:ext>
            </a:extLst>
          </p:cNvPr>
          <p:cNvSpPr>
            <a:spLocks noGrp="1"/>
          </p:cNvSpPr>
          <p:nvPr>
            <p:ph type="title"/>
          </p:nvPr>
        </p:nvSpPr>
        <p:spPr>
          <a:xfrm>
            <a:off x="836612" y="987425"/>
            <a:ext cx="3935413" cy="718457"/>
          </a:xfrm>
        </p:spPr>
        <p:txBody>
          <a:bodyPr/>
          <a:lstStyle/>
          <a:p>
            <a:r>
              <a:rPr lang="en-US" dirty="0"/>
              <a:t>Image Embeddings</a:t>
            </a:r>
            <a:endParaRPr lang="ru-KZ" dirty="0"/>
          </a:p>
        </p:txBody>
      </p:sp>
      <p:sp>
        <p:nvSpPr>
          <p:cNvPr id="4" name="Текст 3">
            <a:extLst>
              <a:ext uri="{FF2B5EF4-FFF2-40B4-BE49-F238E27FC236}">
                <a16:creationId xmlns:a16="http://schemas.microsoft.com/office/drawing/2014/main" id="{A502E327-EFA9-C196-194D-0C26FDF81E18}"/>
              </a:ext>
            </a:extLst>
          </p:cNvPr>
          <p:cNvSpPr>
            <a:spLocks noGrp="1"/>
          </p:cNvSpPr>
          <p:nvPr>
            <p:ph type="body" sz="half" idx="2"/>
          </p:nvPr>
        </p:nvSpPr>
        <p:spPr/>
        <p:txBody>
          <a:bodyPr/>
          <a:lstStyle/>
          <a:p>
            <a:r>
              <a:rPr lang="en-US" dirty="0"/>
              <a:t>CLIP (Contrastive Language–Image Pretraining) is a multimodal AI model developed by OpenAI</a:t>
            </a:r>
            <a:r>
              <a:rPr lang="ru-RU" dirty="0"/>
              <a:t>. </a:t>
            </a:r>
            <a:r>
              <a:rPr lang="en-US" dirty="0"/>
              <a:t>It learns a shared embedding space for images and text</a:t>
            </a:r>
            <a:r>
              <a:rPr lang="ru-RU" dirty="0"/>
              <a:t>. </a:t>
            </a:r>
            <a:r>
              <a:rPr lang="en-US" dirty="0"/>
              <a:t>In this system CLIP converts artworks (images) into vector embeddings.</a:t>
            </a:r>
            <a:endParaRPr lang="ru-RU" kern="0" dirty="0">
              <a:ea typeface="Arial" panose="020B0604020202020204" pitchFamily="34" charset="0"/>
            </a:endParaRPr>
          </a:p>
          <a:p>
            <a:r>
              <a:rPr lang="en-US" kern="0" dirty="0">
                <a:ea typeface="Arial" panose="020B0604020202020204" pitchFamily="34" charset="0"/>
              </a:rPr>
              <a:t>Embeddings – vectors that represent the images and their features visually and semantically. They are numeric vectors of a certain size and include information about the images that are fed into the system</a:t>
            </a:r>
            <a:r>
              <a:rPr lang="en-US" kern="0" dirty="0">
                <a:latin typeface="Times New Roman" panose="02020603050405020304" pitchFamily="18" charset="0"/>
                <a:ea typeface="Arial" panose="020B0604020202020204" pitchFamily="34" charset="0"/>
              </a:rPr>
              <a:t>. </a:t>
            </a:r>
            <a:endParaRPr lang="ru-KZ" dirty="0"/>
          </a:p>
          <a:p>
            <a:endParaRPr lang="ru-KZ" dirty="0"/>
          </a:p>
        </p:txBody>
      </p:sp>
      <p:pic>
        <p:nvPicPr>
          <p:cNvPr id="6" name="Рисунок 5">
            <a:extLst>
              <a:ext uri="{FF2B5EF4-FFF2-40B4-BE49-F238E27FC236}">
                <a16:creationId xmlns:a16="http://schemas.microsoft.com/office/drawing/2014/main" id="{0A837550-AC73-DD17-7458-4EA93F01419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37517" y="2220686"/>
            <a:ext cx="5738495" cy="2198370"/>
          </a:xfrm>
          <a:prstGeom prst="rect">
            <a:avLst/>
          </a:prstGeom>
          <a:noFill/>
          <a:ln>
            <a:noFill/>
          </a:ln>
        </p:spPr>
      </p:pic>
      <p:pic>
        <p:nvPicPr>
          <p:cNvPr id="8" name="Рисунок 7">
            <a:extLst>
              <a:ext uri="{FF2B5EF4-FFF2-40B4-BE49-F238E27FC236}">
                <a16:creationId xmlns:a16="http://schemas.microsoft.com/office/drawing/2014/main" id="{084CE140-606A-2930-46F3-712B294D87AA}"/>
              </a:ext>
            </a:extLst>
          </p:cNvPr>
          <p:cNvPicPr>
            <a:picLocks noChangeAspect="1"/>
          </p:cNvPicPr>
          <p:nvPr/>
        </p:nvPicPr>
        <p:blipFill>
          <a:blip r:embed="rId3"/>
          <a:stretch>
            <a:fillRect/>
          </a:stretch>
        </p:blipFill>
        <p:spPr>
          <a:xfrm>
            <a:off x="5137610" y="4871721"/>
            <a:ext cx="6538308" cy="1343573"/>
          </a:xfrm>
          <a:prstGeom prst="rect">
            <a:avLst/>
          </a:prstGeom>
        </p:spPr>
      </p:pic>
      <p:pic>
        <p:nvPicPr>
          <p:cNvPr id="9" name="Рисунок 8"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1B08ABE2-E86A-4AD1-6307-3C43C5760AAC}"/>
              </a:ext>
            </a:extLst>
          </p:cNvPr>
          <p:cNvPicPr>
            <a:picLocks noChangeAspect="1"/>
          </p:cNvPicPr>
          <p:nvPr/>
        </p:nvPicPr>
        <p:blipFill>
          <a:blip r:embed="rId4"/>
          <a:stretch>
            <a:fillRect/>
          </a:stretch>
        </p:blipFill>
        <p:spPr>
          <a:xfrm>
            <a:off x="9029759" y="780467"/>
            <a:ext cx="2325629" cy="987554"/>
          </a:xfrm>
          <a:prstGeom prst="rect">
            <a:avLst/>
          </a:prstGeom>
        </p:spPr>
      </p:pic>
      <p:sp>
        <p:nvSpPr>
          <p:cNvPr id="3" name="TextBox 2">
            <a:extLst>
              <a:ext uri="{FF2B5EF4-FFF2-40B4-BE49-F238E27FC236}">
                <a16:creationId xmlns:a16="http://schemas.microsoft.com/office/drawing/2014/main" id="{16F1ADAA-A4BC-C677-EF24-90C26CC73B69}"/>
              </a:ext>
            </a:extLst>
          </p:cNvPr>
          <p:cNvSpPr txBox="1"/>
          <p:nvPr/>
        </p:nvSpPr>
        <p:spPr>
          <a:xfrm>
            <a:off x="6523895" y="4460722"/>
            <a:ext cx="4391129" cy="369332"/>
          </a:xfrm>
          <a:prstGeom prst="rect">
            <a:avLst/>
          </a:prstGeom>
          <a:noFill/>
        </p:spPr>
        <p:txBody>
          <a:bodyPr wrap="square" rtlCol="0">
            <a:spAutoFit/>
          </a:bodyPr>
          <a:lstStyle/>
          <a:p>
            <a:r>
              <a:rPr lang="en-US" dirty="0"/>
              <a:t>Figure 5. Visualization of CLIP model</a:t>
            </a:r>
            <a:endParaRPr lang="ru-KZ" dirty="0"/>
          </a:p>
        </p:txBody>
      </p:sp>
      <p:sp>
        <p:nvSpPr>
          <p:cNvPr id="5" name="TextBox 4">
            <a:extLst>
              <a:ext uri="{FF2B5EF4-FFF2-40B4-BE49-F238E27FC236}">
                <a16:creationId xmlns:a16="http://schemas.microsoft.com/office/drawing/2014/main" id="{99C71249-C080-A2C6-15F2-790F90B95623}"/>
              </a:ext>
            </a:extLst>
          </p:cNvPr>
          <p:cNvSpPr txBox="1"/>
          <p:nvPr/>
        </p:nvSpPr>
        <p:spPr>
          <a:xfrm>
            <a:off x="6523895" y="6298627"/>
            <a:ext cx="4391129" cy="369332"/>
          </a:xfrm>
          <a:prstGeom prst="rect">
            <a:avLst/>
          </a:prstGeom>
          <a:noFill/>
        </p:spPr>
        <p:txBody>
          <a:bodyPr wrap="square" rtlCol="0">
            <a:spAutoFit/>
          </a:bodyPr>
          <a:lstStyle/>
          <a:p>
            <a:r>
              <a:rPr lang="en-US" dirty="0"/>
              <a:t>Figure 6. Type of CLIP model</a:t>
            </a:r>
            <a:endParaRPr lang="ru-KZ" dirty="0"/>
          </a:p>
        </p:txBody>
      </p:sp>
    </p:spTree>
    <p:extLst>
      <p:ext uri="{BB962C8B-B14F-4D97-AF65-F5344CB8AC3E}">
        <p14:creationId xmlns:p14="http://schemas.microsoft.com/office/powerpoint/2010/main" val="662504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3B2C7D-801D-A5D4-11C3-7F8FCA576DBD}"/>
              </a:ext>
            </a:extLst>
          </p:cNvPr>
          <p:cNvSpPr txBox="1">
            <a:spLocks/>
          </p:cNvSpPr>
          <p:nvPr/>
        </p:nvSpPr>
        <p:spPr>
          <a:xfrm>
            <a:off x="737433" y="3069771"/>
            <a:ext cx="3899882" cy="16300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CLIP Models</a:t>
            </a:r>
            <a:endParaRPr lang="ru-KZ" dirty="0"/>
          </a:p>
        </p:txBody>
      </p:sp>
      <p:pic>
        <p:nvPicPr>
          <p:cNvPr id="4" name="Рисунок 3">
            <a:extLst>
              <a:ext uri="{FF2B5EF4-FFF2-40B4-BE49-F238E27FC236}">
                <a16:creationId xmlns:a16="http://schemas.microsoft.com/office/drawing/2014/main" id="{52D9C407-DBC2-9C20-CDF6-C67B903E9315}"/>
              </a:ext>
            </a:extLst>
          </p:cNvPr>
          <p:cNvPicPr>
            <a:picLocks noChangeAspect="1"/>
          </p:cNvPicPr>
          <p:nvPr/>
        </p:nvPicPr>
        <p:blipFill>
          <a:blip r:embed="rId2"/>
          <a:stretch>
            <a:fillRect/>
          </a:stretch>
        </p:blipFill>
        <p:spPr>
          <a:xfrm>
            <a:off x="5716112" y="1958213"/>
            <a:ext cx="3506532" cy="3929127"/>
          </a:xfrm>
          <a:prstGeom prst="rect">
            <a:avLst/>
          </a:prstGeom>
        </p:spPr>
      </p:pic>
      <p:sp>
        <p:nvSpPr>
          <p:cNvPr id="6" name="TextBox 5">
            <a:extLst>
              <a:ext uri="{FF2B5EF4-FFF2-40B4-BE49-F238E27FC236}">
                <a16:creationId xmlns:a16="http://schemas.microsoft.com/office/drawing/2014/main" id="{2C29E8CA-AEE9-4885-6CE9-0365988AA45A}"/>
              </a:ext>
            </a:extLst>
          </p:cNvPr>
          <p:cNvSpPr txBox="1"/>
          <p:nvPr/>
        </p:nvSpPr>
        <p:spPr>
          <a:xfrm>
            <a:off x="4541633" y="5969378"/>
            <a:ext cx="6696637" cy="369332"/>
          </a:xfrm>
          <a:prstGeom prst="rect">
            <a:avLst/>
          </a:prstGeom>
          <a:noFill/>
        </p:spPr>
        <p:txBody>
          <a:bodyPr wrap="square">
            <a:spAutoFit/>
          </a:bodyPr>
          <a:lstStyle/>
          <a:p>
            <a:r>
              <a:rPr lang="en-US" dirty="0"/>
              <a:t>Figure 7. Comparative analysis of the CLIP models</a:t>
            </a:r>
            <a:r>
              <a:rPr lang="ru-RU" dirty="0"/>
              <a:t> </a:t>
            </a:r>
            <a:r>
              <a:rPr lang="en-US" dirty="0"/>
              <a:t>from GitHub</a:t>
            </a:r>
            <a:endParaRPr lang="ru-KZ" dirty="0"/>
          </a:p>
        </p:txBody>
      </p:sp>
      <p:pic>
        <p:nvPicPr>
          <p:cNvPr id="7" name="Рисунок 6"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BFECD2BC-3445-2AB4-55FF-1251ECB664D1}"/>
              </a:ext>
            </a:extLst>
          </p:cNvPr>
          <p:cNvPicPr>
            <a:picLocks noChangeAspect="1"/>
          </p:cNvPicPr>
          <p:nvPr/>
        </p:nvPicPr>
        <p:blipFill>
          <a:blip r:embed="rId3"/>
          <a:stretch>
            <a:fillRect/>
          </a:stretch>
        </p:blipFill>
        <p:spPr>
          <a:xfrm>
            <a:off x="9029759" y="780467"/>
            <a:ext cx="2325629" cy="987554"/>
          </a:xfrm>
          <a:prstGeom prst="rect">
            <a:avLst/>
          </a:prstGeom>
        </p:spPr>
      </p:pic>
    </p:spTree>
    <p:extLst>
      <p:ext uri="{BB962C8B-B14F-4D97-AF65-F5344CB8AC3E}">
        <p14:creationId xmlns:p14="http://schemas.microsoft.com/office/powerpoint/2010/main" val="3732376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34B3CE-3AB2-1BF7-DBA9-E71A9452C7FC}"/>
              </a:ext>
            </a:extLst>
          </p:cNvPr>
          <p:cNvSpPr>
            <a:spLocks noGrp="1"/>
          </p:cNvSpPr>
          <p:nvPr>
            <p:ph type="title"/>
          </p:nvPr>
        </p:nvSpPr>
        <p:spPr/>
        <p:txBody>
          <a:bodyPr/>
          <a:lstStyle/>
          <a:p>
            <a:r>
              <a:rPr lang="en-US" dirty="0"/>
              <a:t>Cosine Similarity</a:t>
            </a:r>
            <a:endParaRPr lang="ru-KZ" dirty="0"/>
          </a:p>
        </p:txBody>
      </p:sp>
      <p:sp>
        <p:nvSpPr>
          <p:cNvPr id="4" name="Текст 3">
            <a:extLst>
              <a:ext uri="{FF2B5EF4-FFF2-40B4-BE49-F238E27FC236}">
                <a16:creationId xmlns:a16="http://schemas.microsoft.com/office/drawing/2014/main" id="{C3B169EA-8E64-9C4F-3016-B805CB425735}"/>
              </a:ext>
            </a:extLst>
          </p:cNvPr>
          <p:cNvSpPr>
            <a:spLocks noGrp="1"/>
          </p:cNvSpPr>
          <p:nvPr>
            <p:ph type="body" sz="half" idx="2"/>
          </p:nvPr>
        </p:nvSpPr>
        <p:spPr/>
        <p:txBody>
          <a:bodyPr>
            <a:normAutofit fontScale="92500" lnSpcReduction="10000"/>
          </a:bodyPr>
          <a:lstStyle/>
          <a:p>
            <a:r>
              <a:rPr lang="en-US" dirty="0"/>
              <a:t>Cosine similarity is a metric used to measure how similar two vectors are by calculating the cosine of the angle between them in a multidimensional space.</a:t>
            </a:r>
            <a:r>
              <a:rPr lang="ru-RU" dirty="0"/>
              <a:t> </a:t>
            </a:r>
            <a:endParaRPr lang="en-US" dirty="0"/>
          </a:p>
          <a:p>
            <a:r>
              <a:rPr lang="en-US" dirty="0"/>
              <a:t>Cosine similarity was chosen over Euclidean and Manhattan distances due to its ability to measure angular similarity in high-dimensional embedding space, making it more suitable for CLIP-based semantic representations of artworks</a:t>
            </a:r>
          </a:p>
          <a:p>
            <a:r>
              <a:rPr lang="en-US" dirty="0"/>
              <a:t>Cosine similarity was selected as the main metric for the recommendation system. It measures the semantic closeness between CLIP embeddings of artworks</a:t>
            </a:r>
            <a:r>
              <a:rPr lang="ru-RU" dirty="0"/>
              <a:t>. </a:t>
            </a:r>
            <a:r>
              <a:rPr lang="en-US" dirty="0"/>
              <a:t>The system recommends paintings based on similarity between artworks themselves, not on user behavior or interactions.</a:t>
            </a:r>
          </a:p>
          <a:p>
            <a:endParaRPr lang="ru-KZ" dirty="0"/>
          </a:p>
        </p:txBody>
      </p:sp>
      <p:pic>
        <p:nvPicPr>
          <p:cNvPr id="6" name="Рисунок 5" descr="Cosine vs Euclidean: The Hidden Retrieval Mistake Undermining Your GenAI  Pipeline | Medium">
            <a:extLst>
              <a:ext uri="{FF2B5EF4-FFF2-40B4-BE49-F238E27FC236}">
                <a16:creationId xmlns:a16="http://schemas.microsoft.com/office/drawing/2014/main" id="{534392A0-E27A-6C87-5A83-E6AFFEC5DBB3}"/>
              </a:ext>
            </a:extLst>
          </p:cNvPr>
          <p:cNvPicPr>
            <a:picLocks noChangeAspect="1"/>
          </p:cNvPicPr>
          <p:nvPr/>
        </p:nvPicPr>
        <p:blipFill>
          <a:blip r:embed="rId2"/>
          <a:stretch>
            <a:fillRect/>
          </a:stretch>
        </p:blipFill>
        <p:spPr>
          <a:xfrm>
            <a:off x="5276014" y="2218849"/>
            <a:ext cx="5987707" cy="2741437"/>
          </a:xfrm>
          <a:prstGeom prst="rect">
            <a:avLst/>
          </a:prstGeom>
        </p:spPr>
      </p:pic>
      <p:pic>
        <p:nvPicPr>
          <p:cNvPr id="7" name="Рисунок 6"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4A3F1828-67DD-270C-B93A-CF21EF7375A8}"/>
              </a:ext>
            </a:extLst>
          </p:cNvPr>
          <p:cNvPicPr>
            <a:picLocks noChangeAspect="1"/>
          </p:cNvPicPr>
          <p:nvPr/>
        </p:nvPicPr>
        <p:blipFill>
          <a:blip r:embed="rId3"/>
          <a:stretch>
            <a:fillRect/>
          </a:stretch>
        </p:blipFill>
        <p:spPr>
          <a:xfrm>
            <a:off x="9026583" y="763523"/>
            <a:ext cx="2325629" cy="987554"/>
          </a:xfrm>
          <a:prstGeom prst="rect">
            <a:avLst/>
          </a:prstGeom>
        </p:spPr>
      </p:pic>
      <p:sp>
        <p:nvSpPr>
          <p:cNvPr id="3" name="TextBox 2">
            <a:extLst>
              <a:ext uri="{FF2B5EF4-FFF2-40B4-BE49-F238E27FC236}">
                <a16:creationId xmlns:a16="http://schemas.microsoft.com/office/drawing/2014/main" id="{CE8D33FD-4896-9BF9-250B-BE42B75F123D}"/>
              </a:ext>
            </a:extLst>
          </p:cNvPr>
          <p:cNvSpPr txBox="1"/>
          <p:nvPr/>
        </p:nvSpPr>
        <p:spPr>
          <a:xfrm>
            <a:off x="6683915" y="5243392"/>
            <a:ext cx="4391129" cy="369332"/>
          </a:xfrm>
          <a:prstGeom prst="rect">
            <a:avLst/>
          </a:prstGeom>
          <a:noFill/>
        </p:spPr>
        <p:txBody>
          <a:bodyPr wrap="square" rtlCol="0">
            <a:spAutoFit/>
          </a:bodyPr>
          <a:lstStyle/>
          <a:p>
            <a:r>
              <a:rPr lang="en-US" dirty="0"/>
              <a:t>Figure 8. Similarity Metrics</a:t>
            </a:r>
            <a:endParaRPr lang="ru-KZ" dirty="0"/>
          </a:p>
        </p:txBody>
      </p:sp>
    </p:spTree>
    <p:extLst>
      <p:ext uri="{BB962C8B-B14F-4D97-AF65-F5344CB8AC3E}">
        <p14:creationId xmlns:p14="http://schemas.microsoft.com/office/powerpoint/2010/main" val="110940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C4D80-60A9-40D3-6F8D-CE5BEBE9A331}"/>
              </a:ext>
            </a:extLst>
          </p:cNvPr>
          <p:cNvSpPr>
            <a:spLocks noGrp="1"/>
          </p:cNvSpPr>
          <p:nvPr>
            <p:ph type="title"/>
          </p:nvPr>
        </p:nvSpPr>
        <p:spPr/>
        <p:txBody>
          <a:bodyPr/>
          <a:lstStyle/>
          <a:p>
            <a:r>
              <a:rPr lang="en-US" dirty="0"/>
              <a:t>Recommendation System </a:t>
            </a:r>
            <a:endParaRPr lang="ru-KZ" dirty="0"/>
          </a:p>
        </p:txBody>
      </p:sp>
      <p:pic>
        <p:nvPicPr>
          <p:cNvPr id="5" name="Рисунок 4" descr="Recommender Systems">
            <a:extLst>
              <a:ext uri="{FF2B5EF4-FFF2-40B4-BE49-F238E27FC236}">
                <a16:creationId xmlns:a16="http://schemas.microsoft.com/office/drawing/2014/main" id="{F4115A4E-56F2-5502-6138-784298409D09}"/>
              </a:ext>
            </a:extLst>
          </p:cNvPr>
          <p:cNvPicPr>
            <a:picLocks noChangeAspect="1"/>
          </p:cNvPicPr>
          <p:nvPr/>
        </p:nvPicPr>
        <p:blipFill>
          <a:blip r:embed="rId2"/>
          <a:stretch>
            <a:fillRect/>
          </a:stretch>
        </p:blipFill>
        <p:spPr>
          <a:xfrm>
            <a:off x="4946496" y="1563688"/>
            <a:ext cx="6858000" cy="4305300"/>
          </a:xfrm>
          <a:prstGeom prst="rect">
            <a:avLst/>
          </a:prstGeom>
        </p:spPr>
      </p:pic>
      <p:sp>
        <p:nvSpPr>
          <p:cNvPr id="4" name="Текст 3">
            <a:extLst>
              <a:ext uri="{FF2B5EF4-FFF2-40B4-BE49-F238E27FC236}">
                <a16:creationId xmlns:a16="http://schemas.microsoft.com/office/drawing/2014/main" id="{270A2E30-6342-ABC2-35F1-4E12FD918E8E}"/>
              </a:ext>
            </a:extLst>
          </p:cNvPr>
          <p:cNvSpPr>
            <a:spLocks noGrp="1"/>
          </p:cNvSpPr>
          <p:nvPr>
            <p:ph type="body" sz="half" idx="2"/>
          </p:nvPr>
        </p:nvSpPr>
        <p:spPr/>
        <p:txBody>
          <a:bodyPr/>
          <a:lstStyle/>
          <a:p>
            <a:r>
              <a:rPr lang="en-US" dirty="0"/>
              <a:t>A recommender system is an AI-driven information filtering tool designed to predict and suggest items - such as products, media, or content - that a user is most likely to want. By analyzing past behavior, preferences, and interactions, these systems help users navigate overwhelming choices while maximizing business engagement and revenue. The developed recommendation system is based on a content-based approach, where recommendations are generated using the visual and semantic features of artworks rather than interactions of other users.</a:t>
            </a:r>
            <a:endParaRPr lang="ru-KZ" dirty="0"/>
          </a:p>
        </p:txBody>
      </p:sp>
      <p:sp>
        <p:nvSpPr>
          <p:cNvPr id="6" name="TextBox 5">
            <a:extLst>
              <a:ext uri="{FF2B5EF4-FFF2-40B4-BE49-F238E27FC236}">
                <a16:creationId xmlns:a16="http://schemas.microsoft.com/office/drawing/2014/main" id="{DE287A77-6F3C-81A5-C33A-E13D3E83458D}"/>
              </a:ext>
            </a:extLst>
          </p:cNvPr>
          <p:cNvSpPr txBox="1"/>
          <p:nvPr/>
        </p:nvSpPr>
        <p:spPr>
          <a:xfrm>
            <a:off x="6607715" y="5925247"/>
            <a:ext cx="4776565" cy="369332"/>
          </a:xfrm>
          <a:prstGeom prst="rect">
            <a:avLst/>
          </a:prstGeom>
          <a:noFill/>
        </p:spPr>
        <p:txBody>
          <a:bodyPr wrap="square" rtlCol="0">
            <a:spAutoFit/>
          </a:bodyPr>
          <a:lstStyle/>
          <a:p>
            <a:r>
              <a:rPr lang="en-US" dirty="0"/>
              <a:t>Figure 9. Type of Recommendation System</a:t>
            </a:r>
            <a:endParaRPr lang="ru-KZ" dirty="0"/>
          </a:p>
        </p:txBody>
      </p:sp>
    </p:spTree>
    <p:extLst>
      <p:ext uri="{BB962C8B-B14F-4D97-AF65-F5344CB8AC3E}">
        <p14:creationId xmlns:p14="http://schemas.microsoft.com/office/powerpoint/2010/main" val="3392200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448C4F-4E5C-FCE3-C981-1BD5F0768B9A}"/>
              </a:ext>
            </a:extLst>
          </p:cNvPr>
          <p:cNvSpPr>
            <a:spLocks noGrp="1"/>
          </p:cNvSpPr>
          <p:nvPr>
            <p:ph type="title"/>
          </p:nvPr>
        </p:nvSpPr>
        <p:spPr>
          <a:xfrm>
            <a:off x="839788" y="989012"/>
            <a:ext cx="3932237" cy="987554"/>
          </a:xfrm>
        </p:spPr>
        <p:txBody>
          <a:bodyPr/>
          <a:lstStyle/>
          <a:p>
            <a:r>
              <a:rPr lang="en-US" dirty="0"/>
              <a:t>Recommendation Algorithm Scenario 1</a:t>
            </a:r>
            <a:endParaRPr lang="ru-KZ" dirty="0"/>
          </a:p>
        </p:txBody>
      </p:sp>
      <p:sp>
        <p:nvSpPr>
          <p:cNvPr id="4" name="Текст 3">
            <a:extLst>
              <a:ext uri="{FF2B5EF4-FFF2-40B4-BE49-F238E27FC236}">
                <a16:creationId xmlns:a16="http://schemas.microsoft.com/office/drawing/2014/main" id="{2701D265-5FFE-FC71-D00C-8A17E0820A1F}"/>
              </a:ext>
            </a:extLst>
          </p:cNvPr>
          <p:cNvSpPr>
            <a:spLocks noGrp="1"/>
          </p:cNvSpPr>
          <p:nvPr>
            <p:ph type="body" sz="half" idx="2"/>
          </p:nvPr>
        </p:nvSpPr>
        <p:spPr>
          <a:xfrm>
            <a:off x="839788" y="2158746"/>
            <a:ext cx="3932237" cy="3811588"/>
          </a:xfrm>
        </p:spPr>
        <p:txBody>
          <a:bodyPr/>
          <a:lstStyle/>
          <a:p>
            <a:r>
              <a:rPr lang="en-US" dirty="0"/>
              <a:t>The first recommendation scenario is based on finding similar artworks. A selected artwork is treated as a query image Its embedding is compared with embeddings of all artworks in the dataset. Similarity is calculated using cosine similarity in the embedding space Results are ranked in descending order and Top-N most similar artworks are returned. This approach enables users to discover artworks based on visual and semantic similarity, implementing a nearest-neighbor search in the embedding space.</a:t>
            </a:r>
            <a:endParaRPr lang="ru-KZ" dirty="0"/>
          </a:p>
        </p:txBody>
      </p:sp>
      <p:pic>
        <p:nvPicPr>
          <p:cNvPr id="8" name="Рисунок 7">
            <a:extLst>
              <a:ext uri="{FF2B5EF4-FFF2-40B4-BE49-F238E27FC236}">
                <a16:creationId xmlns:a16="http://schemas.microsoft.com/office/drawing/2014/main" id="{BE6ECC3D-A761-140C-9B34-C6113EBC85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5306" y="1482789"/>
            <a:ext cx="4140200" cy="4487545"/>
          </a:xfrm>
          <a:prstGeom prst="rect">
            <a:avLst/>
          </a:prstGeom>
          <a:noFill/>
          <a:ln>
            <a:noFill/>
          </a:ln>
        </p:spPr>
      </p:pic>
      <p:sp>
        <p:nvSpPr>
          <p:cNvPr id="10" name="TextBox 9">
            <a:extLst>
              <a:ext uri="{FF2B5EF4-FFF2-40B4-BE49-F238E27FC236}">
                <a16:creationId xmlns:a16="http://schemas.microsoft.com/office/drawing/2014/main" id="{7D9069F5-CFFE-A5CE-2762-0E3BD462F325}"/>
              </a:ext>
            </a:extLst>
          </p:cNvPr>
          <p:cNvSpPr txBox="1"/>
          <p:nvPr/>
        </p:nvSpPr>
        <p:spPr>
          <a:xfrm>
            <a:off x="5427406" y="5868988"/>
            <a:ext cx="6096000" cy="713722"/>
          </a:xfrm>
          <a:prstGeom prst="rect">
            <a:avLst/>
          </a:prstGeom>
          <a:noFill/>
        </p:spPr>
        <p:txBody>
          <a:bodyPr wrap="square">
            <a:spAutoFit/>
          </a:bodyPr>
          <a:lstStyle/>
          <a:p>
            <a:pPr algn="ctr">
              <a:lnSpc>
                <a:spcPct val="115000"/>
              </a:lnSpc>
              <a:buNone/>
            </a:pPr>
            <a:r>
              <a:rPr lang="en-US" sz="1800" dirty="0">
                <a:effectLst/>
                <a:ea typeface="Arial" panose="020B0604020202020204" pitchFamily="34" charset="0"/>
              </a:rPr>
              <a:t>Scheme 2. Scheme of first scenario of recommendation system</a:t>
            </a:r>
            <a:r>
              <a:rPr lang="ru-RU" dirty="0">
                <a:ea typeface="Arial" panose="020B0604020202020204" pitchFamily="34" charset="0"/>
              </a:rPr>
              <a:t>. </a:t>
            </a:r>
            <a:r>
              <a:rPr lang="en-US" dirty="0">
                <a:ea typeface="Arial" panose="020B0604020202020204" pitchFamily="34" charset="0"/>
              </a:rPr>
              <a:t>Similar Artwork Search</a:t>
            </a:r>
            <a:endParaRPr lang="ru-KZ" sz="1400" dirty="0">
              <a:effectLst/>
              <a:ea typeface="Arial" panose="020B0604020202020204" pitchFamily="34" charset="0"/>
            </a:endParaRPr>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3FE34C64-33DF-D802-092B-62DB635F9F4A}"/>
              </a:ext>
            </a:extLst>
          </p:cNvPr>
          <p:cNvPicPr>
            <a:picLocks noChangeAspect="1"/>
          </p:cNvPicPr>
          <p:nvPr/>
        </p:nvPicPr>
        <p:blipFill>
          <a:blip r:embed="rId3"/>
          <a:stretch>
            <a:fillRect/>
          </a:stretch>
        </p:blipFill>
        <p:spPr>
          <a:xfrm>
            <a:off x="9197777" y="360346"/>
            <a:ext cx="2325629" cy="987554"/>
          </a:xfrm>
          <a:prstGeom prst="rect">
            <a:avLst/>
          </a:prstGeom>
        </p:spPr>
      </p:pic>
    </p:spTree>
    <p:extLst>
      <p:ext uri="{BB962C8B-B14F-4D97-AF65-F5344CB8AC3E}">
        <p14:creationId xmlns:p14="http://schemas.microsoft.com/office/powerpoint/2010/main" val="411476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53C0-CCB3-8B56-9496-FDE120818E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FF6223-82FB-D284-2F75-B9687F179F21}"/>
              </a:ext>
            </a:extLst>
          </p:cNvPr>
          <p:cNvSpPr>
            <a:spLocks noGrp="1"/>
          </p:cNvSpPr>
          <p:nvPr>
            <p:ph type="title"/>
          </p:nvPr>
        </p:nvSpPr>
        <p:spPr>
          <a:xfrm>
            <a:off x="839788" y="989012"/>
            <a:ext cx="3932237" cy="987554"/>
          </a:xfrm>
        </p:spPr>
        <p:txBody>
          <a:bodyPr/>
          <a:lstStyle/>
          <a:p>
            <a:r>
              <a:rPr lang="en-US" dirty="0"/>
              <a:t>Recommendation Algorithm Scenario 2</a:t>
            </a:r>
            <a:endParaRPr lang="ru-KZ" dirty="0"/>
          </a:p>
        </p:txBody>
      </p:sp>
      <p:sp>
        <p:nvSpPr>
          <p:cNvPr id="4" name="Текст 3">
            <a:extLst>
              <a:ext uri="{FF2B5EF4-FFF2-40B4-BE49-F238E27FC236}">
                <a16:creationId xmlns:a16="http://schemas.microsoft.com/office/drawing/2014/main" id="{11132EC0-2FFD-AD23-B9CB-155E8DDB413F}"/>
              </a:ext>
            </a:extLst>
          </p:cNvPr>
          <p:cNvSpPr>
            <a:spLocks noGrp="1"/>
          </p:cNvSpPr>
          <p:nvPr>
            <p:ph type="body" sz="half" idx="2"/>
          </p:nvPr>
        </p:nvSpPr>
        <p:spPr>
          <a:xfrm>
            <a:off x="839788" y="2182156"/>
            <a:ext cx="3932237" cy="3811588"/>
          </a:xfrm>
        </p:spPr>
        <p:txBody>
          <a:bodyPr/>
          <a:lstStyle/>
          <a:p>
            <a:r>
              <a:rPr lang="en-US" dirty="0"/>
              <a:t>The second scenario focuses on personalized recommendations based on user preferences. A user preference vector is created by averaging embeddings of all liked artworks. This vector represents the user’s overall visual and semantic taste profile. Recommendations are generated by computing cosine similarity between the user vector and all artwork embeddings. The system returns Top-N most relevant artworks based on similarity scores</a:t>
            </a:r>
            <a:endParaRPr lang="ru-KZ" dirty="0"/>
          </a:p>
        </p:txBody>
      </p:sp>
      <p:sp>
        <p:nvSpPr>
          <p:cNvPr id="10" name="TextBox 9">
            <a:extLst>
              <a:ext uri="{FF2B5EF4-FFF2-40B4-BE49-F238E27FC236}">
                <a16:creationId xmlns:a16="http://schemas.microsoft.com/office/drawing/2014/main" id="{93840D4D-CEC1-EB90-0C25-016668F74D4F}"/>
              </a:ext>
            </a:extLst>
          </p:cNvPr>
          <p:cNvSpPr txBox="1"/>
          <p:nvPr/>
        </p:nvSpPr>
        <p:spPr>
          <a:xfrm>
            <a:off x="5427406" y="5868988"/>
            <a:ext cx="6096000" cy="713722"/>
          </a:xfrm>
          <a:prstGeom prst="rect">
            <a:avLst/>
          </a:prstGeom>
          <a:noFill/>
        </p:spPr>
        <p:txBody>
          <a:bodyPr wrap="square">
            <a:spAutoFit/>
          </a:bodyPr>
          <a:lstStyle/>
          <a:p>
            <a:pPr algn="ctr">
              <a:lnSpc>
                <a:spcPct val="115000"/>
              </a:lnSpc>
              <a:buNone/>
            </a:pPr>
            <a:r>
              <a:rPr lang="en-US" sz="1800" dirty="0">
                <a:effectLst/>
                <a:ea typeface="Arial" panose="020B0604020202020204" pitchFamily="34" charset="0"/>
              </a:rPr>
              <a:t>Scheme 3. Scheme of </a:t>
            </a:r>
            <a:r>
              <a:rPr lang="en-US" dirty="0">
                <a:ea typeface="Arial" panose="020B0604020202020204" pitchFamily="34" charset="0"/>
              </a:rPr>
              <a:t>second</a:t>
            </a:r>
            <a:r>
              <a:rPr lang="en-US" sz="1800" dirty="0">
                <a:effectLst/>
                <a:ea typeface="Arial" panose="020B0604020202020204" pitchFamily="34" charset="0"/>
              </a:rPr>
              <a:t> scenario of recommendation system. Personalized Recommendations</a:t>
            </a:r>
            <a:endParaRPr lang="ru-KZ" sz="1400" dirty="0">
              <a:effectLst/>
              <a:ea typeface="Arial" panose="020B0604020202020204" pitchFamily="34" charset="0"/>
            </a:endParaRPr>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1B742F49-DDC3-FD4C-3624-E3562EDE9737}"/>
              </a:ext>
            </a:extLst>
          </p:cNvPr>
          <p:cNvPicPr>
            <a:picLocks noChangeAspect="1"/>
          </p:cNvPicPr>
          <p:nvPr/>
        </p:nvPicPr>
        <p:blipFill>
          <a:blip r:embed="rId2"/>
          <a:stretch>
            <a:fillRect/>
          </a:stretch>
        </p:blipFill>
        <p:spPr>
          <a:xfrm>
            <a:off x="9197777" y="360346"/>
            <a:ext cx="2325629" cy="987554"/>
          </a:xfrm>
          <a:prstGeom prst="rect">
            <a:avLst/>
          </a:prstGeom>
        </p:spPr>
      </p:pic>
      <p:pic>
        <p:nvPicPr>
          <p:cNvPr id="3" name="Рисунок 2">
            <a:extLst>
              <a:ext uri="{FF2B5EF4-FFF2-40B4-BE49-F238E27FC236}">
                <a16:creationId xmlns:a16="http://schemas.microsoft.com/office/drawing/2014/main" id="{3C2897FB-3A90-DFCE-63CB-39EB69B9EE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64043" y="1736704"/>
            <a:ext cx="4022725" cy="4257040"/>
          </a:xfrm>
          <a:prstGeom prst="rect">
            <a:avLst/>
          </a:prstGeom>
          <a:noFill/>
          <a:ln>
            <a:noFill/>
          </a:ln>
        </p:spPr>
      </p:pic>
    </p:spTree>
    <p:extLst>
      <p:ext uri="{BB962C8B-B14F-4D97-AF65-F5344CB8AC3E}">
        <p14:creationId xmlns:p14="http://schemas.microsoft.com/office/powerpoint/2010/main" val="1724902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FE259-CAD3-799D-50C2-C2E98D8BB49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44C65F-71E7-7EE8-3FE0-23270FC5ED8F}"/>
              </a:ext>
            </a:extLst>
          </p:cNvPr>
          <p:cNvSpPr>
            <a:spLocks noGrp="1"/>
          </p:cNvSpPr>
          <p:nvPr>
            <p:ph type="title"/>
          </p:nvPr>
        </p:nvSpPr>
        <p:spPr>
          <a:xfrm>
            <a:off x="839788" y="1069846"/>
            <a:ext cx="3932237" cy="987554"/>
          </a:xfrm>
        </p:spPr>
        <p:txBody>
          <a:bodyPr/>
          <a:lstStyle/>
          <a:p>
            <a:r>
              <a:rPr lang="en-US" dirty="0"/>
              <a:t>Onboarding &amp; Cold-Start Solution</a:t>
            </a:r>
          </a:p>
        </p:txBody>
      </p:sp>
      <p:sp>
        <p:nvSpPr>
          <p:cNvPr id="4" name="Текст 3">
            <a:extLst>
              <a:ext uri="{FF2B5EF4-FFF2-40B4-BE49-F238E27FC236}">
                <a16:creationId xmlns:a16="http://schemas.microsoft.com/office/drawing/2014/main" id="{1531C850-B0DE-6FA1-0DFE-E4940CB99915}"/>
              </a:ext>
            </a:extLst>
          </p:cNvPr>
          <p:cNvSpPr>
            <a:spLocks noGrp="1"/>
          </p:cNvSpPr>
          <p:nvPr>
            <p:ph type="body" sz="half" idx="2"/>
          </p:nvPr>
        </p:nvSpPr>
        <p:spPr>
          <a:xfrm>
            <a:off x="839788" y="2267276"/>
            <a:ext cx="3932237" cy="3811588"/>
          </a:xfrm>
        </p:spPr>
        <p:txBody>
          <a:bodyPr/>
          <a:lstStyle/>
          <a:p>
            <a:r>
              <a:rPr lang="en-US" dirty="0"/>
              <a:t>The system addresses the cold-start problem, where no user interaction history is available at the beginning</a:t>
            </a:r>
            <a:r>
              <a:rPr lang="ru-RU" dirty="0"/>
              <a:t>.</a:t>
            </a:r>
            <a:r>
              <a:rPr lang="en-US" dirty="0"/>
              <a:t> An onboarding stage is used to collect initial user preferences</a:t>
            </a:r>
            <a:r>
              <a:rPr lang="ru-RU" dirty="0"/>
              <a:t>.</a:t>
            </a:r>
            <a:r>
              <a:rPr lang="en-US" dirty="0"/>
              <a:t> Users are shown a representative set of artworks across different styles</a:t>
            </a:r>
            <a:r>
              <a:rPr lang="ru-RU" dirty="0"/>
              <a:t>.</a:t>
            </a:r>
            <a:r>
              <a:rPr lang="en-US" dirty="0"/>
              <a:t> Based on user selections, an initial preference profile is constructed</a:t>
            </a:r>
            <a:r>
              <a:rPr lang="ru-RU" dirty="0"/>
              <a:t>. </a:t>
            </a:r>
            <a:r>
              <a:rPr lang="en-US" dirty="0"/>
              <a:t>A style bonus coefficient is applied to emphasize artworks matching preferred styles Already seen artworks are filtered out to ensure diversity and avoid repetition</a:t>
            </a:r>
            <a:endParaRPr lang="ru-KZ" dirty="0"/>
          </a:p>
        </p:txBody>
      </p:sp>
      <p:sp>
        <p:nvSpPr>
          <p:cNvPr id="10" name="TextBox 9">
            <a:extLst>
              <a:ext uri="{FF2B5EF4-FFF2-40B4-BE49-F238E27FC236}">
                <a16:creationId xmlns:a16="http://schemas.microsoft.com/office/drawing/2014/main" id="{5170C533-091A-2056-F0C3-F57E7E7F9B15}"/>
              </a:ext>
            </a:extLst>
          </p:cNvPr>
          <p:cNvSpPr txBox="1"/>
          <p:nvPr/>
        </p:nvSpPr>
        <p:spPr>
          <a:xfrm>
            <a:off x="5427406" y="5868988"/>
            <a:ext cx="6096000" cy="395173"/>
          </a:xfrm>
          <a:prstGeom prst="rect">
            <a:avLst/>
          </a:prstGeom>
          <a:noFill/>
        </p:spPr>
        <p:txBody>
          <a:bodyPr wrap="square">
            <a:spAutoFit/>
          </a:bodyPr>
          <a:lstStyle/>
          <a:p>
            <a:pPr algn="ctr">
              <a:lnSpc>
                <a:spcPct val="115000"/>
              </a:lnSpc>
              <a:buNone/>
            </a:pPr>
            <a:r>
              <a:rPr lang="en-US" sz="1800" dirty="0">
                <a:effectLst/>
                <a:ea typeface="Arial" panose="020B0604020202020204" pitchFamily="34" charset="0"/>
              </a:rPr>
              <a:t>Scheme </a:t>
            </a:r>
            <a:r>
              <a:rPr lang="ru-RU" sz="1800" dirty="0">
                <a:effectLst/>
                <a:ea typeface="Arial" panose="020B0604020202020204" pitchFamily="34" charset="0"/>
              </a:rPr>
              <a:t>4</a:t>
            </a:r>
            <a:r>
              <a:rPr lang="en-US" sz="1800" dirty="0">
                <a:effectLst/>
                <a:ea typeface="Arial" panose="020B0604020202020204" pitchFamily="34" charset="0"/>
              </a:rPr>
              <a:t>. Scheme </a:t>
            </a:r>
            <a:r>
              <a:rPr lang="en-US" dirty="0"/>
              <a:t>of Onboarding</a:t>
            </a:r>
            <a:endParaRPr lang="ru-KZ" sz="1400" dirty="0">
              <a:effectLst/>
              <a:ea typeface="Arial" panose="020B0604020202020204" pitchFamily="34" charset="0"/>
            </a:endParaRPr>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1191C6D5-3B6D-9902-FF9B-0251F5C03AB0}"/>
              </a:ext>
            </a:extLst>
          </p:cNvPr>
          <p:cNvPicPr>
            <a:picLocks noChangeAspect="1"/>
          </p:cNvPicPr>
          <p:nvPr/>
        </p:nvPicPr>
        <p:blipFill>
          <a:blip r:embed="rId2"/>
          <a:stretch>
            <a:fillRect/>
          </a:stretch>
        </p:blipFill>
        <p:spPr>
          <a:xfrm>
            <a:off x="9197777" y="360346"/>
            <a:ext cx="2325629" cy="987554"/>
          </a:xfrm>
          <a:prstGeom prst="rect">
            <a:avLst/>
          </a:prstGeom>
        </p:spPr>
      </p:pic>
      <p:pic>
        <p:nvPicPr>
          <p:cNvPr id="5" name="Рисунок 4">
            <a:extLst>
              <a:ext uri="{FF2B5EF4-FFF2-40B4-BE49-F238E27FC236}">
                <a16:creationId xmlns:a16="http://schemas.microsoft.com/office/drawing/2014/main" id="{F5D1C9BA-0F3B-9FFF-F084-993DAA0A46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92414" y="1610453"/>
            <a:ext cx="3165984" cy="4258535"/>
          </a:xfrm>
          <a:prstGeom prst="rect">
            <a:avLst/>
          </a:prstGeom>
          <a:noFill/>
          <a:ln>
            <a:noFill/>
          </a:ln>
        </p:spPr>
      </p:pic>
    </p:spTree>
    <p:extLst>
      <p:ext uri="{BB962C8B-B14F-4D97-AF65-F5344CB8AC3E}">
        <p14:creationId xmlns:p14="http://schemas.microsoft.com/office/powerpoint/2010/main" val="388013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BE722-E03B-EDB9-16E6-F1F671F339F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12122C-E1A0-6753-BF4B-C3E8AE0E21CD}"/>
              </a:ext>
            </a:extLst>
          </p:cNvPr>
          <p:cNvSpPr>
            <a:spLocks noGrp="1"/>
          </p:cNvSpPr>
          <p:nvPr>
            <p:ph type="title"/>
          </p:nvPr>
        </p:nvSpPr>
        <p:spPr>
          <a:xfrm>
            <a:off x="758820" y="638761"/>
            <a:ext cx="5895990" cy="693132"/>
          </a:xfrm>
        </p:spPr>
        <p:txBody>
          <a:bodyPr>
            <a:normAutofit/>
          </a:bodyPr>
          <a:lstStyle/>
          <a:p>
            <a:r>
              <a:rPr lang="en-US" dirty="0"/>
              <a:t>Technology stack and architecture</a:t>
            </a:r>
            <a:endParaRPr lang="ru-KZ" dirty="0"/>
          </a:p>
        </p:txBody>
      </p:sp>
      <p:sp>
        <p:nvSpPr>
          <p:cNvPr id="4" name="Текст 3">
            <a:extLst>
              <a:ext uri="{FF2B5EF4-FFF2-40B4-BE49-F238E27FC236}">
                <a16:creationId xmlns:a16="http://schemas.microsoft.com/office/drawing/2014/main" id="{C9B7F13B-405B-F2A9-9F39-2042CCCBE9D8}"/>
              </a:ext>
            </a:extLst>
          </p:cNvPr>
          <p:cNvSpPr>
            <a:spLocks noGrp="1"/>
          </p:cNvSpPr>
          <p:nvPr>
            <p:ph type="body" sz="half" idx="2"/>
          </p:nvPr>
        </p:nvSpPr>
        <p:spPr>
          <a:xfrm>
            <a:off x="758820" y="1483815"/>
            <a:ext cx="5310565" cy="4836663"/>
          </a:xfrm>
        </p:spPr>
        <p:txBody>
          <a:bodyPr>
            <a:noAutofit/>
          </a:bodyPr>
          <a:lstStyle/>
          <a:p>
            <a:r>
              <a:rPr lang="en-US" b="1" dirty="0"/>
              <a:t>Frontend</a:t>
            </a:r>
          </a:p>
          <a:p>
            <a:r>
              <a:rPr lang="en-US" dirty="0" err="1"/>
              <a:t>Streamlit</a:t>
            </a:r>
            <a:r>
              <a:rPr lang="en-US" dirty="0"/>
              <a:t> - interactive web interface</a:t>
            </a:r>
            <a:br>
              <a:rPr lang="en-US" dirty="0"/>
            </a:br>
            <a:r>
              <a:rPr lang="en-US" dirty="0"/>
              <a:t>• rapid UI development for ML applications</a:t>
            </a:r>
            <a:br>
              <a:rPr lang="en-US" dirty="0"/>
            </a:br>
            <a:r>
              <a:rPr lang="en-US" dirty="0"/>
              <a:t>• easy visualization of results and embeddings</a:t>
            </a:r>
            <a:br>
              <a:rPr lang="en-US" dirty="0"/>
            </a:br>
            <a:r>
              <a:rPr lang="en-US" dirty="0"/>
              <a:t>• user-friendly dashboard for recommendations</a:t>
            </a:r>
          </a:p>
          <a:p>
            <a:r>
              <a:rPr lang="en-US" b="1" dirty="0"/>
              <a:t>Backend</a:t>
            </a:r>
          </a:p>
          <a:p>
            <a:r>
              <a:rPr lang="en-US" dirty="0"/>
              <a:t>Python - core development language </a:t>
            </a:r>
          </a:p>
          <a:p>
            <a:r>
              <a:rPr lang="en-US" dirty="0" err="1"/>
              <a:t>FastAPI</a:t>
            </a:r>
            <a:r>
              <a:rPr lang="en-US" dirty="0"/>
              <a:t> - high-performance API framework</a:t>
            </a:r>
            <a:br>
              <a:rPr lang="en-US" dirty="0"/>
            </a:br>
            <a:r>
              <a:rPr lang="en-US" dirty="0"/>
              <a:t>• handles requests for recommendations and model inference </a:t>
            </a:r>
          </a:p>
          <a:p>
            <a:r>
              <a:rPr lang="en-US" dirty="0"/>
              <a:t>CLIP (OpenAI) - multimodal embedding model</a:t>
            </a:r>
            <a:br>
              <a:rPr lang="en-US" dirty="0"/>
            </a:br>
            <a:r>
              <a:rPr lang="en-US" dirty="0"/>
              <a:t>• extracts semantic features from images and text</a:t>
            </a:r>
            <a:br>
              <a:rPr lang="en-US" dirty="0"/>
            </a:br>
            <a:r>
              <a:rPr lang="en-US" dirty="0"/>
              <a:t>• enables similarity-based recommendation of artworks</a:t>
            </a:r>
          </a:p>
          <a:p>
            <a:r>
              <a:rPr lang="en-US" b="1" dirty="0"/>
              <a:t>Database</a:t>
            </a:r>
          </a:p>
          <a:p>
            <a:r>
              <a:rPr lang="en-US" dirty="0"/>
              <a:t>PostgreSQL - relational database</a:t>
            </a:r>
            <a:br>
              <a:rPr lang="en-US" dirty="0"/>
            </a:br>
            <a:r>
              <a:rPr lang="en-US" dirty="0"/>
              <a:t>• stores artwork metadata, embeddings, and user interactions</a:t>
            </a:r>
            <a:br>
              <a:rPr lang="en-US" dirty="0"/>
            </a:br>
            <a:r>
              <a:rPr lang="en-US" dirty="0"/>
              <a:t>• scalable and suitable for complex queries </a:t>
            </a:r>
          </a:p>
          <a:p>
            <a:endParaRPr lang="ru-KZ" dirty="0"/>
          </a:p>
        </p:txBody>
      </p:sp>
      <p:pic>
        <p:nvPicPr>
          <p:cNvPr id="18" name="Рисунок 17"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2D7570EE-B6AA-DCC2-6B44-61FAA1B2DA08}"/>
              </a:ext>
            </a:extLst>
          </p:cNvPr>
          <p:cNvPicPr>
            <a:picLocks noChangeAspect="1"/>
          </p:cNvPicPr>
          <p:nvPr/>
        </p:nvPicPr>
        <p:blipFill>
          <a:blip r:embed="rId2"/>
          <a:stretch>
            <a:fillRect/>
          </a:stretch>
        </p:blipFill>
        <p:spPr>
          <a:xfrm>
            <a:off x="9370474" y="342571"/>
            <a:ext cx="2325629" cy="987554"/>
          </a:xfrm>
          <a:prstGeom prst="rect">
            <a:avLst/>
          </a:prstGeom>
        </p:spPr>
      </p:pic>
      <p:pic>
        <p:nvPicPr>
          <p:cNvPr id="10" name="Рисунок 9">
            <a:extLst>
              <a:ext uri="{FF2B5EF4-FFF2-40B4-BE49-F238E27FC236}">
                <a16:creationId xmlns:a16="http://schemas.microsoft.com/office/drawing/2014/main" id="{F37D7EDE-4347-4447-63F9-6BE9B3B6D8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54810" y="1452840"/>
            <a:ext cx="4003675" cy="4349750"/>
          </a:xfrm>
          <a:prstGeom prst="rect">
            <a:avLst/>
          </a:prstGeom>
          <a:noFill/>
          <a:ln>
            <a:noFill/>
          </a:ln>
        </p:spPr>
      </p:pic>
      <p:sp>
        <p:nvSpPr>
          <p:cNvPr id="14" name="TextBox 13">
            <a:extLst>
              <a:ext uri="{FF2B5EF4-FFF2-40B4-BE49-F238E27FC236}">
                <a16:creationId xmlns:a16="http://schemas.microsoft.com/office/drawing/2014/main" id="{B9B88833-42C7-B092-1F8B-69ACD2FCD17B}"/>
              </a:ext>
            </a:extLst>
          </p:cNvPr>
          <p:cNvSpPr txBox="1"/>
          <p:nvPr/>
        </p:nvSpPr>
        <p:spPr>
          <a:xfrm>
            <a:off x="5716801" y="5925305"/>
            <a:ext cx="6096000" cy="713722"/>
          </a:xfrm>
          <a:prstGeom prst="rect">
            <a:avLst/>
          </a:prstGeom>
          <a:noFill/>
        </p:spPr>
        <p:txBody>
          <a:bodyPr wrap="square">
            <a:spAutoFit/>
          </a:bodyPr>
          <a:lstStyle/>
          <a:p>
            <a:pPr algn="ctr">
              <a:lnSpc>
                <a:spcPct val="115000"/>
              </a:lnSpc>
              <a:buNone/>
            </a:pPr>
            <a:r>
              <a:rPr lang="en-US" sz="1800" dirty="0">
                <a:effectLst/>
                <a:ea typeface="Arial" panose="020B0604020202020204" pitchFamily="34" charset="0"/>
              </a:rPr>
              <a:t>Scheme </a:t>
            </a:r>
            <a:r>
              <a:rPr lang="ru-RU" dirty="0">
                <a:ea typeface="Arial" panose="020B0604020202020204" pitchFamily="34" charset="0"/>
              </a:rPr>
              <a:t>5</a:t>
            </a:r>
            <a:r>
              <a:rPr lang="en-US" sz="1800" dirty="0">
                <a:effectLst/>
                <a:ea typeface="Arial" panose="020B0604020202020204" pitchFamily="34" charset="0"/>
              </a:rPr>
              <a:t>. Scheme </a:t>
            </a:r>
            <a:r>
              <a:rPr lang="en-US" dirty="0"/>
              <a:t>of system’s multi-tier client-server architecture</a:t>
            </a:r>
            <a:endParaRPr lang="ru-KZ" sz="1400" dirty="0">
              <a:effectLst/>
              <a:ea typeface="Arial" panose="020B0604020202020204" pitchFamily="34" charset="0"/>
            </a:endParaRPr>
          </a:p>
        </p:txBody>
      </p:sp>
      <p:pic>
        <p:nvPicPr>
          <p:cNvPr id="3" name="Объект 6" descr="Brand • Streamlit">
            <a:extLst>
              <a:ext uri="{FF2B5EF4-FFF2-40B4-BE49-F238E27FC236}">
                <a16:creationId xmlns:a16="http://schemas.microsoft.com/office/drawing/2014/main" id="{D3EA438E-20F5-08D2-8DD7-A6C588FBD229}"/>
              </a:ext>
            </a:extLst>
          </p:cNvPr>
          <p:cNvPicPr>
            <a:picLocks noGrp="1" noChangeAspect="1"/>
          </p:cNvPicPr>
          <p:nvPr>
            <p:ph idx="1"/>
          </p:nvPr>
        </p:nvPicPr>
        <p:blipFill>
          <a:blip r:embed="rId4"/>
          <a:stretch>
            <a:fillRect/>
          </a:stretch>
        </p:blipFill>
        <p:spPr>
          <a:xfrm>
            <a:off x="9065341" y="1452840"/>
            <a:ext cx="1161442" cy="679505"/>
          </a:xfrm>
          <a:prstGeom prst="rect">
            <a:avLst/>
          </a:prstGeom>
        </p:spPr>
      </p:pic>
      <p:pic>
        <p:nvPicPr>
          <p:cNvPr id="5" name="Рисунок 4" descr="Почему Вы должны попробовать FastAPI? / Хабр">
            <a:extLst>
              <a:ext uri="{FF2B5EF4-FFF2-40B4-BE49-F238E27FC236}">
                <a16:creationId xmlns:a16="http://schemas.microsoft.com/office/drawing/2014/main" id="{DC93E59B-E258-F109-655C-D16A4FED980F}"/>
              </a:ext>
            </a:extLst>
          </p:cNvPr>
          <p:cNvPicPr>
            <a:picLocks noChangeAspect="1"/>
          </p:cNvPicPr>
          <p:nvPr/>
        </p:nvPicPr>
        <p:blipFill>
          <a:blip r:embed="rId5"/>
          <a:stretch>
            <a:fillRect/>
          </a:stretch>
        </p:blipFill>
        <p:spPr>
          <a:xfrm>
            <a:off x="8660622" y="2809795"/>
            <a:ext cx="985440" cy="355452"/>
          </a:xfrm>
          <a:prstGeom prst="rect">
            <a:avLst/>
          </a:prstGeom>
        </p:spPr>
      </p:pic>
      <p:pic>
        <p:nvPicPr>
          <p:cNvPr id="6" name="Рисунок 5" descr="Postgresql plain wordmark logo - free Icon PNG, SVG">
            <a:extLst>
              <a:ext uri="{FF2B5EF4-FFF2-40B4-BE49-F238E27FC236}">
                <a16:creationId xmlns:a16="http://schemas.microsoft.com/office/drawing/2014/main" id="{EF8DF7A3-FB82-D224-8B0E-81B6C098D7F7}"/>
              </a:ext>
            </a:extLst>
          </p:cNvPr>
          <p:cNvPicPr>
            <a:picLocks noChangeAspect="1"/>
          </p:cNvPicPr>
          <p:nvPr/>
        </p:nvPicPr>
        <p:blipFill>
          <a:blip r:embed="rId6"/>
          <a:stretch>
            <a:fillRect/>
          </a:stretch>
        </p:blipFill>
        <p:spPr>
          <a:xfrm>
            <a:off x="5953567" y="3627715"/>
            <a:ext cx="817061" cy="817061"/>
          </a:xfrm>
          <a:prstGeom prst="rect">
            <a:avLst/>
          </a:prstGeom>
        </p:spPr>
      </p:pic>
      <p:pic>
        <p:nvPicPr>
          <p:cNvPr id="7" name="Рисунок 6">
            <a:extLst>
              <a:ext uri="{FF2B5EF4-FFF2-40B4-BE49-F238E27FC236}">
                <a16:creationId xmlns:a16="http://schemas.microsoft.com/office/drawing/2014/main" id="{8A6C3529-78B8-4553-B43F-3BEAF3B59128}"/>
              </a:ext>
            </a:extLst>
          </p:cNvPr>
          <p:cNvPicPr>
            <a:picLocks noChangeAspect="1"/>
          </p:cNvPicPr>
          <p:nvPr/>
        </p:nvPicPr>
        <p:blipFill>
          <a:blip r:embed="rId7"/>
          <a:stretch>
            <a:fillRect/>
          </a:stretch>
        </p:blipFill>
        <p:spPr>
          <a:xfrm>
            <a:off x="9773263" y="5140541"/>
            <a:ext cx="1056047" cy="529237"/>
          </a:xfrm>
          <a:prstGeom prst="rect">
            <a:avLst/>
          </a:prstGeom>
        </p:spPr>
      </p:pic>
    </p:spTree>
    <p:extLst>
      <p:ext uri="{BB962C8B-B14F-4D97-AF65-F5344CB8AC3E}">
        <p14:creationId xmlns:p14="http://schemas.microsoft.com/office/powerpoint/2010/main" val="281524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13BDAF-E945-C268-1900-F5D5BAD69520}"/>
              </a:ext>
            </a:extLst>
          </p:cNvPr>
          <p:cNvSpPr>
            <a:spLocks noGrp="1"/>
          </p:cNvSpPr>
          <p:nvPr>
            <p:ph type="title"/>
          </p:nvPr>
        </p:nvSpPr>
        <p:spPr>
          <a:xfrm>
            <a:off x="690716" y="721588"/>
            <a:ext cx="3935413" cy="916858"/>
          </a:xfrm>
        </p:spPr>
        <p:txBody>
          <a:bodyPr>
            <a:normAutofit fontScale="90000"/>
          </a:bodyPr>
          <a:lstStyle/>
          <a:p>
            <a:r>
              <a:rPr lang="en-US" dirty="0"/>
              <a:t>System Demonstration</a:t>
            </a:r>
            <a:endParaRPr lang="ru-KZ" dirty="0"/>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63946F9D-3BEF-66D1-AFBF-40D503668671}"/>
              </a:ext>
            </a:extLst>
          </p:cNvPr>
          <p:cNvPicPr>
            <a:picLocks noChangeAspect="1"/>
          </p:cNvPicPr>
          <p:nvPr/>
        </p:nvPicPr>
        <p:blipFill>
          <a:blip r:embed="rId2"/>
          <a:stretch>
            <a:fillRect/>
          </a:stretch>
        </p:blipFill>
        <p:spPr>
          <a:xfrm>
            <a:off x="9340977" y="679217"/>
            <a:ext cx="2325629" cy="987554"/>
          </a:xfrm>
          <a:prstGeom prst="rect">
            <a:avLst/>
          </a:prstGeom>
        </p:spPr>
      </p:pic>
      <p:pic>
        <p:nvPicPr>
          <p:cNvPr id="15" name="Рисунок 14">
            <a:extLst>
              <a:ext uri="{FF2B5EF4-FFF2-40B4-BE49-F238E27FC236}">
                <a16:creationId xmlns:a16="http://schemas.microsoft.com/office/drawing/2014/main" id="{C4846BE8-6E79-B6FB-6270-7CA44C068746}"/>
              </a:ext>
            </a:extLst>
          </p:cNvPr>
          <p:cNvPicPr>
            <a:picLocks noChangeAspect="1"/>
          </p:cNvPicPr>
          <p:nvPr/>
        </p:nvPicPr>
        <p:blipFill>
          <a:blip r:embed="rId3"/>
          <a:stretch>
            <a:fillRect/>
          </a:stretch>
        </p:blipFill>
        <p:spPr>
          <a:xfrm>
            <a:off x="8295524" y="2086080"/>
            <a:ext cx="3533563" cy="1682036"/>
          </a:xfrm>
          <a:prstGeom prst="rect">
            <a:avLst/>
          </a:prstGeom>
        </p:spPr>
      </p:pic>
      <p:pic>
        <p:nvPicPr>
          <p:cNvPr id="13" name="Рисунок 12">
            <a:extLst>
              <a:ext uri="{FF2B5EF4-FFF2-40B4-BE49-F238E27FC236}">
                <a16:creationId xmlns:a16="http://schemas.microsoft.com/office/drawing/2014/main" id="{4B2D9C2B-074F-5495-8288-F6AB5DF73570}"/>
              </a:ext>
            </a:extLst>
          </p:cNvPr>
          <p:cNvPicPr>
            <a:picLocks noChangeAspect="1"/>
          </p:cNvPicPr>
          <p:nvPr/>
        </p:nvPicPr>
        <p:blipFill>
          <a:blip r:embed="rId4"/>
          <a:stretch>
            <a:fillRect/>
          </a:stretch>
        </p:blipFill>
        <p:spPr>
          <a:xfrm>
            <a:off x="4493120" y="2103867"/>
            <a:ext cx="3517490" cy="1664249"/>
          </a:xfrm>
          <a:prstGeom prst="rect">
            <a:avLst/>
          </a:prstGeom>
        </p:spPr>
      </p:pic>
      <p:pic>
        <p:nvPicPr>
          <p:cNvPr id="10" name="Рисунок 9">
            <a:extLst>
              <a:ext uri="{FF2B5EF4-FFF2-40B4-BE49-F238E27FC236}">
                <a16:creationId xmlns:a16="http://schemas.microsoft.com/office/drawing/2014/main" id="{81BC3A76-B259-2103-2ADF-B2A32996B98D}"/>
              </a:ext>
            </a:extLst>
          </p:cNvPr>
          <p:cNvPicPr>
            <a:picLocks noChangeAspect="1"/>
          </p:cNvPicPr>
          <p:nvPr/>
        </p:nvPicPr>
        <p:blipFill>
          <a:blip r:embed="rId5"/>
          <a:stretch>
            <a:fillRect/>
          </a:stretch>
        </p:blipFill>
        <p:spPr>
          <a:xfrm>
            <a:off x="690716" y="2037392"/>
            <a:ext cx="3517490" cy="1682036"/>
          </a:xfrm>
          <a:prstGeom prst="rect">
            <a:avLst/>
          </a:prstGeom>
        </p:spPr>
      </p:pic>
      <p:sp>
        <p:nvSpPr>
          <p:cNvPr id="16" name="TextBox 15">
            <a:extLst>
              <a:ext uri="{FF2B5EF4-FFF2-40B4-BE49-F238E27FC236}">
                <a16:creationId xmlns:a16="http://schemas.microsoft.com/office/drawing/2014/main" id="{A0862C16-FFED-7FC9-672A-4E8335CCF245}"/>
              </a:ext>
            </a:extLst>
          </p:cNvPr>
          <p:cNvSpPr txBox="1"/>
          <p:nvPr/>
        </p:nvSpPr>
        <p:spPr>
          <a:xfrm>
            <a:off x="811150" y="4261486"/>
            <a:ext cx="2792361" cy="646331"/>
          </a:xfrm>
          <a:prstGeom prst="rect">
            <a:avLst/>
          </a:prstGeom>
          <a:noFill/>
        </p:spPr>
        <p:txBody>
          <a:bodyPr wrap="square" rtlCol="0">
            <a:spAutoFit/>
          </a:bodyPr>
          <a:lstStyle/>
          <a:p>
            <a:r>
              <a:rPr lang="en-US" dirty="0"/>
              <a:t>The initial entry page of the system.</a:t>
            </a:r>
            <a:endParaRPr lang="ru-KZ" dirty="0"/>
          </a:p>
        </p:txBody>
      </p:sp>
      <p:sp>
        <p:nvSpPr>
          <p:cNvPr id="17" name="TextBox 16">
            <a:extLst>
              <a:ext uri="{FF2B5EF4-FFF2-40B4-BE49-F238E27FC236}">
                <a16:creationId xmlns:a16="http://schemas.microsoft.com/office/drawing/2014/main" id="{F604E422-FBC3-BF6B-7E2F-C52A0AFD69C1}"/>
              </a:ext>
            </a:extLst>
          </p:cNvPr>
          <p:cNvSpPr txBox="1"/>
          <p:nvPr/>
        </p:nvSpPr>
        <p:spPr>
          <a:xfrm>
            <a:off x="8824463" y="3922388"/>
            <a:ext cx="3008868" cy="646331"/>
          </a:xfrm>
          <a:prstGeom prst="rect">
            <a:avLst/>
          </a:prstGeom>
          <a:noFill/>
        </p:spPr>
        <p:txBody>
          <a:bodyPr wrap="square" rtlCol="0">
            <a:spAutoFit/>
          </a:bodyPr>
          <a:lstStyle/>
          <a:p>
            <a:r>
              <a:rPr lang="en-US" dirty="0"/>
              <a:t>Figure 13. Account – Sign In</a:t>
            </a:r>
            <a:endParaRPr lang="ru-RU" dirty="0"/>
          </a:p>
          <a:p>
            <a:endParaRPr lang="ru-KZ" dirty="0"/>
          </a:p>
        </p:txBody>
      </p:sp>
      <p:sp>
        <p:nvSpPr>
          <p:cNvPr id="18" name="TextBox 17">
            <a:extLst>
              <a:ext uri="{FF2B5EF4-FFF2-40B4-BE49-F238E27FC236}">
                <a16:creationId xmlns:a16="http://schemas.microsoft.com/office/drawing/2014/main" id="{0EAB1DEC-D123-64C9-F58E-BFE013BD0E0D}"/>
              </a:ext>
            </a:extLst>
          </p:cNvPr>
          <p:cNvSpPr txBox="1"/>
          <p:nvPr/>
        </p:nvSpPr>
        <p:spPr>
          <a:xfrm>
            <a:off x="811150" y="3930964"/>
            <a:ext cx="2890091" cy="369332"/>
          </a:xfrm>
          <a:prstGeom prst="rect">
            <a:avLst/>
          </a:prstGeom>
          <a:noFill/>
        </p:spPr>
        <p:txBody>
          <a:bodyPr wrap="square" rtlCol="0">
            <a:spAutoFit/>
          </a:bodyPr>
          <a:lstStyle/>
          <a:p>
            <a:r>
              <a:rPr lang="en-US" dirty="0"/>
              <a:t>Figure 10. Home Page</a:t>
            </a:r>
            <a:endParaRPr lang="ru-RU" dirty="0"/>
          </a:p>
        </p:txBody>
      </p:sp>
      <p:sp>
        <p:nvSpPr>
          <p:cNvPr id="19" name="TextBox 18">
            <a:extLst>
              <a:ext uri="{FF2B5EF4-FFF2-40B4-BE49-F238E27FC236}">
                <a16:creationId xmlns:a16="http://schemas.microsoft.com/office/drawing/2014/main" id="{9F8DD826-40A6-1A5D-2D9F-D7495BA70265}"/>
              </a:ext>
            </a:extLst>
          </p:cNvPr>
          <p:cNvSpPr txBox="1"/>
          <p:nvPr/>
        </p:nvSpPr>
        <p:spPr>
          <a:xfrm>
            <a:off x="8824463" y="4261486"/>
            <a:ext cx="2556387" cy="923330"/>
          </a:xfrm>
          <a:prstGeom prst="rect">
            <a:avLst/>
          </a:prstGeom>
          <a:noFill/>
        </p:spPr>
        <p:txBody>
          <a:bodyPr wrap="square" rtlCol="0">
            <a:spAutoFit/>
          </a:bodyPr>
          <a:lstStyle/>
          <a:p>
            <a:r>
              <a:rPr lang="en-US" dirty="0"/>
              <a:t>Allows existing users to access their personal account.</a:t>
            </a:r>
            <a:endParaRPr lang="ru-KZ" dirty="0"/>
          </a:p>
        </p:txBody>
      </p:sp>
      <p:sp>
        <p:nvSpPr>
          <p:cNvPr id="20" name="TextBox 19">
            <a:extLst>
              <a:ext uri="{FF2B5EF4-FFF2-40B4-BE49-F238E27FC236}">
                <a16:creationId xmlns:a16="http://schemas.microsoft.com/office/drawing/2014/main" id="{2DEC6F44-F6F8-CD9B-D3C6-998621F03B7E}"/>
              </a:ext>
            </a:extLst>
          </p:cNvPr>
          <p:cNvSpPr txBox="1"/>
          <p:nvPr/>
        </p:nvSpPr>
        <p:spPr>
          <a:xfrm>
            <a:off x="4672410" y="3906438"/>
            <a:ext cx="3070081" cy="369332"/>
          </a:xfrm>
          <a:prstGeom prst="rect">
            <a:avLst/>
          </a:prstGeom>
          <a:noFill/>
        </p:spPr>
        <p:txBody>
          <a:bodyPr wrap="square" rtlCol="0">
            <a:spAutoFit/>
          </a:bodyPr>
          <a:lstStyle/>
          <a:p>
            <a:r>
              <a:rPr lang="en-US" dirty="0"/>
              <a:t>Figure 11. Account – Log In</a:t>
            </a:r>
            <a:endParaRPr lang="ru-KZ" dirty="0"/>
          </a:p>
        </p:txBody>
      </p:sp>
      <p:sp>
        <p:nvSpPr>
          <p:cNvPr id="21" name="TextBox 20">
            <a:extLst>
              <a:ext uri="{FF2B5EF4-FFF2-40B4-BE49-F238E27FC236}">
                <a16:creationId xmlns:a16="http://schemas.microsoft.com/office/drawing/2014/main" id="{555080C5-E786-B5B0-0B9D-637EF06898B4}"/>
              </a:ext>
            </a:extLst>
          </p:cNvPr>
          <p:cNvSpPr txBox="1"/>
          <p:nvPr/>
        </p:nvSpPr>
        <p:spPr>
          <a:xfrm>
            <a:off x="4647756" y="4263146"/>
            <a:ext cx="3205538" cy="923330"/>
          </a:xfrm>
          <a:prstGeom prst="rect">
            <a:avLst/>
          </a:prstGeom>
          <a:noFill/>
        </p:spPr>
        <p:txBody>
          <a:bodyPr wrap="square" rtlCol="0">
            <a:spAutoFit/>
          </a:bodyPr>
          <a:lstStyle/>
          <a:p>
            <a:r>
              <a:rPr lang="en-US" dirty="0"/>
              <a:t>Verifies user identity and grants access to personalized features</a:t>
            </a:r>
            <a:endParaRPr lang="ru-KZ" dirty="0"/>
          </a:p>
        </p:txBody>
      </p:sp>
    </p:spTree>
    <p:extLst>
      <p:ext uri="{BB962C8B-B14F-4D97-AF65-F5344CB8AC3E}">
        <p14:creationId xmlns:p14="http://schemas.microsoft.com/office/powerpoint/2010/main" val="2007905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6B217-B0DD-14B6-0AF5-C228120D236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ED54DD-A45F-90F9-C96F-A1803D2A4F65}"/>
              </a:ext>
            </a:extLst>
          </p:cNvPr>
          <p:cNvSpPr>
            <a:spLocks noGrp="1"/>
          </p:cNvSpPr>
          <p:nvPr>
            <p:ph type="title"/>
          </p:nvPr>
        </p:nvSpPr>
        <p:spPr>
          <a:xfrm>
            <a:off x="690716" y="721588"/>
            <a:ext cx="3935413" cy="916858"/>
          </a:xfrm>
        </p:spPr>
        <p:txBody>
          <a:bodyPr>
            <a:normAutofit fontScale="90000"/>
          </a:bodyPr>
          <a:lstStyle/>
          <a:p>
            <a:r>
              <a:rPr lang="en-US" dirty="0"/>
              <a:t>System Demonstration</a:t>
            </a:r>
            <a:endParaRPr lang="ru-KZ" dirty="0"/>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294070DD-6DCF-B2DC-C547-ACA58D3914A5}"/>
              </a:ext>
            </a:extLst>
          </p:cNvPr>
          <p:cNvPicPr>
            <a:picLocks noChangeAspect="1"/>
          </p:cNvPicPr>
          <p:nvPr/>
        </p:nvPicPr>
        <p:blipFill>
          <a:blip r:embed="rId2"/>
          <a:stretch>
            <a:fillRect/>
          </a:stretch>
        </p:blipFill>
        <p:spPr>
          <a:xfrm>
            <a:off x="9340977" y="679217"/>
            <a:ext cx="2325629" cy="987554"/>
          </a:xfrm>
          <a:prstGeom prst="rect">
            <a:avLst/>
          </a:prstGeom>
        </p:spPr>
      </p:pic>
      <p:sp>
        <p:nvSpPr>
          <p:cNvPr id="16" name="TextBox 15">
            <a:extLst>
              <a:ext uri="{FF2B5EF4-FFF2-40B4-BE49-F238E27FC236}">
                <a16:creationId xmlns:a16="http://schemas.microsoft.com/office/drawing/2014/main" id="{59645B34-B324-7F5A-72D2-575EFEB6ED8D}"/>
              </a:ext>
            </a:extLst>
          </p:cNvPr>
          <p:cNvSpPr txBox="1"/>
          <p:nvPr/>
        </p:nvSpPr>
        <p:spPr>
          <a:xfrm>
            <a:off x="946699" y="4228557"/>
            <a:ext cx="2792361" cy="923330"/>
          </a:xfrm>
          <a:prstGeom prst="rect">
            <a:avLst/>
          </a:prstGeom>
          <a:noFill/>
        </p:spPr>
        <p:txBody>
          <a:bodyPr wrap="square" rtlCol="0">
            <a:spAutoFit/>
          </a:bodyPr>
          <a:lstStyle/>
          <a:p>
            <a:r>
              <a:rPr lang="en-US" dirty="0"/>
              <a:t>Users are shown a curated set of representative artworks.</a:t>
            </a:r>
            <a:endParaRPr lang="ru-KZ" dirty="0"/>
          </a:p>
        </p:txBody>
      </p:sp>
      <p:sp>
        <p:nvSpPr>
          <p:cNvPr id="17" name="TextBox 16">
            <a:extLst>
              <a:ext uri="{FF2B5EF4-FFF2-40B4-BE49-F238E27FC236}">
                <a16:creationId xmlns:a16="http://schemas.microsoft.com/office/drawing/2014/main" id="{C2F99B48-1B64-CC11-0D4A-FA2F6034419B}"/>
              </a:ext>
            </a:extLst>
          </p:cNvPr>
          <p:cNvSpPr txBox="1"/>
          <p:nvPr/>
        </p:nvSpPr>
        <p:spPr>
          <a:xfrm>
            <a:off x="8824463" y="3892154"/>
            <a:ext cx="2556387" cy="369332"/>
          </a:xfrm>
          <a:prstGeom prst="rect">
            <a:avLst/>
          </a:prstGeom>
          <a:noFill/>
        </p:spPr>
        <p:txBody>
          <a:bodyPr wrap="square" rtlCol="0">
            <a:spAutoFit/>
          </a:bodyPr>
          <a:lstStyle/>
          <a:p>
            <a:r>
              <a:rPr lang="en-US" dirty="0"/>
              <a:t>My Favorite Collections</a:t>
            </a:r>
            <a:endParaRPr lang="ru-KZ" dirty="0"/>
          </a:p>
        </p:txBody>
      </p:sp>
      <p:sp>
        <p:nvSpPr>
          <p:cNvPr id="18" name="TextBox 17">
            <a:extLst>
              <a:ext uri="{FF2B5EF4-FFF2-40B4-BE49-F238E27FC236}">
                <a16:creationId xmlns:a16="http://schemas.microsoft.com/office/drawing/2014/main" id="{6B6635E4-8625-C11F-A656-DE0D13399D03}"/>
              </a:ext>
            </a:extLst>
          </p:cNvPr>
          <p:cNvSpPr txBox="1"/>
          <p:nvPr/>
        </p:nvSpPr>
        <p:spPr>
          <a:xfrm>
            <a:off x="946699" y="3892154"/>
            <a:ext cx="2890091" cy="369332"/>
          </a:xfrm>
          <a:prstGeom prst="rect">
            <a:avLst/>
          </a:prstGeom>
          <a:noFill/>
        </p:spPr>
        <p:txBody>
          <a:bodyPr wrap="square" rtlCol="0">
            <a:spAutoFit/>
          </a:bodyPr>
          <a:lstStyle/>
          <a:p>
            <a:r>
              <a:rPr lang="en-US" dirty="0"/>
              <a:t>Onboarding Reference Test</a:t>
            </a:r>
            <a:endParaRPr lang="ru-RU" dirty="0"/>
          </a:p>
        </p:txBody>
      </p:sp>
      <p:sp>
        <p:nvSpPr>
          <p:cNvPr id="19" name="TextBox 18">
            <a:extLst>
              <a:ext uri="{FF2B5EF4-FFF2-40B4-BE49-F238E27FC236}">
                <a16:creationId xmlns:a16="http://schemas.microsoft.com/office/drawing/2014/main" id="{EC5AB065-D5CB-9F2A-6C6D-1A81D7F0DECE}"/>
              </a:ext>
            </a:extLst>
          </p:cNvPr>
          <p:cNvSpPr txBox="1"/>
          <p:nvPr/>
        </p:nvSpPr>
        <p:spPr>
          <a:xfrm>
            <a:off x="8824463" y="4261486"/>
            <a:ext cx="2890091" cy="923330"/>
          </a:xfrm>
          <a:prstGeom prst="rect">
            <a:avLst/>
          </a:prstGeom>
          <a:noFill/>
        </p:spPr>
        <p:txBody>
          <a:bodyPr wrap="square" rtlCol="0">
            <a:spAutoFit/>
          </a:bodyPr>
          <a:lstStyle/>
          <a:p>
            <a:r>
              <a:rPr lang="en-US" dirty="0"/>
              <a:t>Stores artworks explicitly marked as liked by the user.</a:t>
            </a:r>
            <a:endParaRPr lang="ru-KZ" dirty="0"/>
          </a:p>
        </p:txBody>
      </p:sp>
      <p:sp>
        <p:nvSpPr>
          <p:cNvPr id="20" name="TextBox 19">
            <a:extLst>
              <a:ext uri="{FF2B5EF4-FFF2-40B4-BE49-F238E27FC236}">
                <a16:creationId xmlns:a16="http://schemas.microsoft.com/office/drawing/2014/main" id="{13CD9287-7013-284C-E054-3EC9DD30E227}"/>
              </a:ext>
            </a:extLst>
          </p:cNvPr>
          <p:cNvSpPr txBox="1"/>
          <p:nvPr/>
        </p:nvSpPr>
        <p:spPr>
          <a:xfrm>
            <a:off x="4647756" y="3892154"/>
            <a:ext cx="3205538" cy="369332"/>
          </a:xfrm>
          <a:prstGeom prst="rect">
            <a:avLst/>
          </a:prstGeom>
          <a:noFill/>
        </p:spPr>
        <p:txBody>
          <a:bodyPr wrap="square" rtlCol="0">
            <a:spAutoFit/>
          </a:bodyPr>
          <a:lstStyle/>
          <a:p>
            <a:r>
              <a:rPr lang="en-US" dirty="0"/>
              <a:t>Personal Recommendations</a:t>
            </a:r>
            <a:endParaRPr lang="ru-KZ" dirty="0"/>
          </a:p>
        </p:txBody>
      </p:sp>
      <p:sp>
        <p:nvSpPr>
          <p:cNvPr id="21" name="TextBox 20">
            <a:extLst>
              <a:ext uri="{FF2B5EF4-FFF2-40B4-BE49-F238E27FC236}">
                <a16:creationId xmlns:a16="http://schemas.microsoft.com/office/drawing/2014/main" id="{1E5867BB-9CF6-4633-11E9-C1C28C8984E2}"/>
              </a:ext>
            </a:extLst>
          </p:cNvPr>
          <p:cNvSpPr txBox="1"/>
          <p:nvPr/>
        </p:nvSpPr>
        <p:spPr>
          <a:xfrm>
            <a:off x="4647756" y="4263146"/>
            <a:ext cx="3205538" cy="923330"/>
          </a:xfrm>
          <a:prstGeom prst="rect">
            <a:avLst/>
          </a:prstGeom>
          <a:noFill/>
        </p:spPr>
        <p:txBody>
          <a:bodyPr wrap="square" rtlCol="0">
            <a:spAutoFit/>
          </a:bodyPr>
          <a:lstStyle/>
          <a:p>
            <a:r>
              <a:rPr lang="en-US" dirty="0"/>
              <a:t>Generates recommendations based on user preference vector</a:t>
            </a:r>
            <a:r>
              <a:rPr lang="ru-RU" dirty="0"/>
              <a:t>.</a:t>
            </a:r>
            <a:endParaRPr lang="ru-KZ" dirty="0"/>
          </a:p>
        </p:txBody>
      </p:sp>
      <p:pic>
        <p:nvPicPr>
          <p:cNvPr id="4" name="Рисунок 3">
            <a:extLst>
              <a:ext uri="{FF2B5EF4-FFF2-40B4-BE49-F238E27FC236}">
                <a16:creationId xmlns:a16="http://schemas.microsoft.com/office/drawing/2014/main" id="{0CD45ED5-97A9-0CD3-9DB4-E42B1B7DB553}"/>
              </a:ext>
            </a:extLst>
          </p:cNvPr>
          <p:cNvPicPr>
            <a:picLocks noChangeAspect="1"/>
          </p:cNvPicPr>
          <p:nvPr/>
        </p:nvPicPr>
        <p:blipFill>
          <a:blip r:embed="rId3"/>
          <a:stretch>
            <a:fillRect/>
          </a:stretch>
        </p:blipFill>
        <p:spPr>
          <a:xfrm>
            <a:off x="674644" y="2084936"/>
            <a:ext cx="3533562" cy="1683180"/>
          </a:xfrm>
          <a:prstGeom prst="rect">
            <a:avLst/>
          </a:prstGeom>
        </p:spPr>
      </p:pic>
      <p:pic>
        <p:nvPicPr>
          <p:cNvPr id="6" name="Рисунок 5">
            <a:extLst>
              <a:ext uri="{FF2B5EF4-FFF2-40B4-BE49-F238E27FC236}">
                <a16:creationId xmlns:a16="http://schemas.microsoft.com/office/drawing/2014/main" id="{38C042D6-AAC4-8444-8E3F-13B60850EAF3}"/>
              </a:ext>
            </a:extLst>
          </p:cNvPr>
          <p:cNvPicPr>
            <a:picLocks noChangeAspect="1"/>
          </p:cNvPicPr>
          <p:nvPr/>
        </p:nvPicPr>
        <p:blipFill>
          <a:blip r:embed="rId4"/>
          <a:stretch>
            <a:fillRect/>
          </a:stretch>
        </p:blipFill>
        <p:spPr>
          <a:xfrm>
            <a:off x="4492705" y="2107103"/>
            <a:ext cx="3515640" cy="1682036"/>
          </a:xfrm>
          <a:prstGeom prst="rect">
            <a:avLst/>
          </a:prstGeom>
        </p:spPr>
      </p:pic>
      <p:pic>
        <p:nvPicPr>
          <p:cNvPr id="8" name="Рисунок 7">
            <a:extLst>
              <a:ext uri="{FF2B5EF4-FFF2-40B4-BE49-F238E27FC236}">
                <a16:creationId xmlns:a16="http://schemas.microsoft.com/office/drawing/2014/main" id="{5FABB089-1B45-85A8-0BC7-544C8CB18D9C}"/>
              </a:ext>
            </a:extLst>
          </p:cNvPr>
          <p:cNvPicPr>
            <a:picLocks noChangeAspect="1"/>
          </p:cNvPicPr>
          <p:nvPr/>
        </p:nvPicPr>
        <p:blipFill>
          <a:blip r:embed="rId5"/>
          <a:stretch>
            <a:fillRect/>
          </a:stretch>
        </p:blipFill>
        <p:spPr>
          <a:xfrm>
            <a:off x="8292844" y="2060814"/>
            <a:ext cx="3752095" cy="1774613"/>
          </a:xfrm>
          <a:prstGeom prst="rect">
            <a:avLst/>
          </a:prstGeom>
        </p:spPr>
      </p:pic>
    </p:spTree>
    <p:extLst>
      <p:ext uri="{BB962C8B-B14F-4D97-AF65-F5344CB8AC3E}">
        <p14:creationId xmlns:p14="http://schemas.microsoft.com/office/powerpoint/2010/main" val="922607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DC81B-1F68-D600-C3E6-D669B1DB3C6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A88771-AB4D-94DF-7DF8-CE172E906F37}"/>
              </a:ext>
            </a:extLst>
          </p:cNvPr>
          <p:cNvSpPr>
            <a:spLocks noGrp="1"/>
          </p:cNvSpPr>
          <p:nvPr>
            <p:ph type="title"/>
          </p:nvPr>
        </p:nvSpPr>
        <p:spPr>
          <a:xfrm>
            <a:off x="690716" y="721588"/>
            <a:ext cx="3935413" cy="916858"/>
          </a:xfrm>
        </p:spPr>
        <p:txBody>
          <a:bodyPr>
            <a:normAutofit fontScale="90000"/>
          </a:bodyPr>
          <a:lstStyle/>
          <a:p>
            <a:r>
              <a:rPr lang="en-US" dirty="0"/>
              <a:t>System Demonstration</a:t>
            </a:r>
            <a:endParaRPr lang="ru-KZ" dirty="0"/>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8471B33A-7997-7B4F-4E88-2B6E79A8908D}"/>
              </a:ext>
            </a:extLst>
          </p:cNvPr>
          <p:cNvPicPr>
            <a:picLocks noChangeAspect="1"/>
          </p:cNvPicPr>
          <p:nvPr/>
        </p:nvPicPr>
        <p:blipFill>
          <a:blip r:embed="rId2"/>
          <a:stretch>
            <a:fillRect/>
          </a:stretch>
        </p:blipFill>
        <p:spPr>
          <a:xfrm>
            <a:off x="9340977" y="679217"/>
            <a:ext cx="2325629" cy="987554"/>
          </a:xfrm>
          <a:prstGeom prst="rect">
            <a:avLst/>
          </a:prstGeom>
        </p:spPr>
      </p:pic>
      <p:sp>
        <p:nvSpPr>
          <p:cNvPr id="16" name="TextBox 15">
            <a:extLst>
              <a:ext uri="{FF2B5EF4-FFF2-40B4-BE49-F238E27FC236}">
                <a16:creationId xmlns:a16="http://schemas.microsoft.com/office/drawing/2014/main" id="{D3306980-D35A-7CDA-92BC-47A8F8AECC28}"/>
              </a:ext>
            </a:extLst>
          </p:cNvPr>
          <p:cNvSpPr txBox="1"/>
          <p:nvPr/>
        </p:nvSpPr>
        <p:spPr>
          <a:xfrm>
            <a:off x="1262241" y="5349008"/>
            <a:ext cx="2792361" cy="646331"/>
          </a:xfrm>
          <a:prstGeom prst="rect">
            <a:avLst/>
          </a:prstGeom>
          <a:noFill/>
        </p:spPr>
        <p:txBody>
          <a:bodyPr wrap="square" rtlCol="0">
            <a:spAutoFit/>
          </a:bodyPr>
          <a:lstStyle/>
          <a:p>
            <a:r>
              <a:rPr lang="en-US" dirty="0"/>
              <a:t>Allows users to upload an artwork image as a query</a:t>
            </a:r>
            <a:endParaRPr lang="ru-KZ" dirty="0"/>
          </a:p>
        </p:txBody>
      </p:sp>
      <p:sp>
        <p:nvSpPr>
          <p:cNvPr id="18" name="TextBox 17">
            <a:extLst>
              <a:ext uri="{FF2B5EF4-FFF2-40B4-BE49-F238E27FC236}">
                <a16:creationId xmlns:a16="http://schemas.microsoft.com/office/drawing/2014/main" id="{80D6B456-1A1F-C406-4672-423E1493659F}"/>
              </a:ext>
            </a:extLst>
          </p:cNvPr>
          <p:cNvSpPr txBox="1"/>
          <p:nvPr/>
        </p:nvSpPr>
        <p:spPr>
          <a:xfrm>
            <a:off x="1021678" y="4866885"/>
            <a:ext cx="3604451" cy="369332"/>
          </a:xfrm>
          <a:prstGeom prst="rect">
            <a:avLst/>
          </a:prstGeom>
          <a:noFill/>
        </p:spPr>
        <p:txBody>
          <a:bodyPr wrap="square" rtlCol="0">
            <a:spAutoFit/>
          </a:bodyPr>
          <a:lstStyle/>
          <a:p>
            <a:r>
              <a:rPr lang="en-US" dirty="0"/>
              <a:t>Search by Image: upload an image</a:t>
            </a:r>
            <a:endParaRPr lang="ru-RU" dirty="0"/>
          </a:p>
        </p:txBody>
      </p:sp>
      <p:pic>
        <p:nvPicPr>
          <p:cNvPr id="5" name="Рисунок 4">
            <a:extLst>
              <a:ext uri="{FF2B5EF4-FFF2-40B4-BE49-F238E27FC236}">
                <a16:creationId xmlns:a16="http://schemas.microsoft.com/office/drawing/2014/main" id="{A0073451-45AB-CA0F-F354-F9A5BD304A28}"/>
              </a:ext>
            </a:extLst>
          </p:cNvPr>
          <p:cNvPicPr>
            <a:picLocks noChangeAspect="1"/>
          </p:cNvPicPr>
          <p:nvPr/>
        </p:nvPicPr>
        <p:blipFill>
          <a:blip r:embed="rId3"/>
          <a:stretch>
            <a:fillRect/>
          </a:stretch>
        </p:blipFill>
        <p:spPr>
          <a:xfrm>
            <a:off x="581515" y="2329487"/>
            <a:ext cx="5135414" cy="2424607"/>
          </a:xfrm>
          <a:prstGeom prst="rect">
            <a:avLst/>
          </a:prstGeom>
        </p:spPr>
      </p:pic>
      <p:pic>
        <p:nvPicPr>
          <p:cNvPr id="3" name="Рисунок 2">
            <a:extLst>
              <a:ext uri="{FF2B5EF4-FFF2-40B4-BE49-F238E27FC236}">
                <a16:creationId xmlns:a16="http://schemas.microsoft.com/office/drawing/2014/main" id="{F40ECB36-5621-C941-BCFA-DB0D8E31F6FE}"/>
              </a:ext>
            </a:extLst>
          </p:cNvPr>
          <p:cNvPicPr>
            <a:picLocks noChangeAspect="1"/>
          </p:cNvPicPr>
          <p:nvPr/>
        </p:nvPicPr>
        <p:blipFill>
          <a:blip r:embed="rId4"/>
          <a:stretch>
            <a:fillRect/>
          </a:stretch>
        </p:blipFill>
        <p:spPr>
          <a:xfrm>
            <a:off x="6475073" y="2398940"/>
            <a:ext cx="4970155" cy="2355154"/>
          </a:xfrm>
          <a:prstGeom prst="rect">
            <a:avLst/>
          </a:prstGeom>
        </p:spPr>
      </p:pic>
      <p:sp>
        <p:nvSpPr>
          <p:cNvPr id="8" name="TextBox 7">
            <a:extLst>
              <a:ext uri="{FF2B5EF4-FFF2-40B4-BE49-F238E27FC236}">
                <a16:creationId xmlns:a16="http://schemas.microsoft.com/office/drawing/2014/main" id="{136579B8-F764-F208-42D4-3DEEC63D7C90}"/>
              </a:ext>
            </a:extLst>
          </p:cNvPr>
          <p:cNvSpPr txBox="1"/>
          <p:nvPr/>
        </p:nvSpPr>
        <p:spPr>
          <a:xfrm>
            <a:off x="7565873" y="4866885"/>
            <a:ext cx="6096000" cy="369332"/>
          </a:xfrm>
          <a:prstGeom prst="rect">
            <a:avLst/>
          </a:prstGeom>
          <a:noFill/>
        </p:spPr>
        <p:txBody>
          <a:bodyPr wrap="square">
            <a:spAutoFit/>
          </a:bodyPr>
          <a:lstStyle/>
          <a:p>
            <a:r>
              <a:rPr lang="en-US" sz="1800" kern="0" dirty="0">
                <a:effectLst/>
                <a:ea typeface="Arial" panose="020B0604020202020204" pitchFamily="34" charset="0"/>
              </a:rPr>
              <a:t>Search by Image Page: result</a:t>
            </a:r>
            <a:endParaRPr lang="ru-KZ" dirty="0"/>
          </a:p>
        </p:txBody>
      </p:sp>
      <p:sp>
        <p:nvSpPr>
          <p:cNvPr id="13" name="TextBox 12">
            <a:extLst>
              <a:ext uri="{FF2B5EF4-FFF2-40B4-BE49-F238E27FC236}">
                <a16:creationId xmlns:a16="http://schemas.microsoft.com/office/drawing/2014/main" id="{D1EE5C38-851B-C834-2F65-00681F3478A7}"/>
              </a:ext>
            </a:extLst>
          </p:cNvPr>
          <p:cNvSpPr txBox="1"/>
          <p:nvPr/>
        </p:nvSpPr>
        <p:spPr>
          <a:xfrm>
            <a:off x="7354530" y="5349008"/>
            <a:ext cx="4235244" cy="646331"/>
          </a:xfrm>
          <a:prstGeom prst="rect">
            <a:avLst/>
          </a:prstGeom>
          <a:noFill/>
        </p:spPr>
        <p:txBody>
          <a:bodyPr wrap="square">
            <a:spAutoFit/>
          </a:bodyPr>
          <a:lstStyle/>
          <a:p>
            <a:r>
              <a:rPr lang="en-US" sz="1800" kern="0" dirty="0">
                <a:effectLst/>
                <a:ea typeface="Arial" panose="020B0604020202020204" pitchFamily="34" charset="0"/>
              </a:rPr>
              <a:t>The results are displayed to the user as a gallery.</a:t>
            </a:r>
            <a:endParaRPr lang="ru-KZ" dirty="0"/>
          </a:p>
        </p:txBody>
      </p:sp>
    </p:spTree>
    <p:extLst>
      <p:ext uri="{BB962C8B-B14F-4D97-AF65-F5344CB8AC3E}">
        <p14:creationId xmlns:p14="http://schemas.microsoft.com/office/powerpoint/2010/main" val="978778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9416A-48A1-DF3D-E807-659A2E99543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36C016-B61E-1A21-7C88-860474954CF7}"/>
              </a:ext>
            </a:extLst>
          </p:cNvPr>
          <p:cNvSpPr>
            <a:spLocks noGrp="1"/>
          </p:cNvSpPr>
          <p:nvPr>
            <p:ph type="title"/>
          </p:nvPr>
        </p:nvSpPr>
        <p:spPr>
          <a:xfrm>
            <a:off x="690716" y="721588"/>
            <a:ext cx="3935413" cy="916858"/>
          </a:xfrm>
        </p:spPr>
        <p:txBody>
          <a:bodyPr>
            <a:normAutofit fontScale="90000"/>
          </a:bodyPr>
          <a:lstStyle/>
          <a:p>
            <a:r>
              <a:rPr lang="en-US" dirty="0"/>
              <a:t>System Demonstration</a:t>
            </a:r>
            <a:endParaRPr lang="ru-KZ" dirty="0"/>
          </a:p>
        </p:txBody>
      </p:sp>
      <p:pic>
        <p:nvPicPr>
          <p:cNvPr id="11" name="Рисунок 10"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291B21F0-E8D3-98E8-CB8E-1A54B9C73F62}"/>
              </a:ext>
            </a:extLst>
          </p:cNvPr>
          <p:cNvPicPr>
            <a:picLocks noChangeAspect="1"/>
          </p:cNvPicPr>
          <p:nvPr/>
        </p:nvPicPr>
        <p:blipFill>
          <a:blip r:embed="rId2"/>
          <a:stretch>
            <a:fillRect/>
          </a:stretch>
        </p:blipFill>
        <p:spPr>
          <a:xfrm>
            <a:off x="9340977" y="679217"/>
            <a:ext cx="2325629" cy="987554"/>
          </a:xfrm>
          <a:prstGeom prst="rect">
            <a:avLst/>
          </a:prstGeom>
        </p:spPr>
      </p:pic>
      <p:pic>
        <p:nvPicPr>
          <p:cNvPr id="14" name="Рисунок 13">
            <a:extLst>
              <a:ext uri="{FF2B5EF4-FFF2-40B4-BE49-F238E27FC236}">
                <a16:creationId xmlns:a16="http://schemas.microsoft.com/office/drawing/2014/main" id="{B3DA8352-B8B5-C652-E817-A5844439DC32}"/>
              </a:ext>
            </a:extLst>
          </p:cNvPr>
          <p:cNvPicPr>
            <a:picLocks noChangeAspect="1"/>
          </p:cNvPicPr>
          <p:nvPr/>
        </p:nvPicPr>
        <p:blipFill>
          <a:blip r:embed="rId3"/>
          <a:stretch>
            <a:fillRect/>
          </a:stretch>
        </p:blipFill>
        <p:spPr>
          <a:xfrm>
            <a:off x="5125464" y="1734311"/>
            <a:ext cx="1941071" cy="4314725"/>
          </a:xfrm>
          <a:prstGeom prst="rect">
            <a:avLst/>
          </a:prstGeom>
        </p:spPr>
      </p:pic>
      <p:pic>
        <p:nvPicPr>
          <p:cNvPr id="22" name="Рисунок 21">
            <a:extLst>
              <a:ext uri="{FF2B5EF4-FFF2-40B4-BE49-F238E27FC236}">
                <a16:creationId xmlns:a16="http://schemas.microsoft.com/office/drawing/2014/main" id="{007E7D96-8E3E-50B0-B018-27EB4C8921AF}"/>
              </a:ext>
            </a:extLst>
          </p:cNvPr>
          <p:cNvPicPr>
            <a:picLocks noChangeAspect="1"/>
          </p:cNvPicPr>
          <p:nvPr/>
        </p:nvPicPr>
        <p:blipFill>
          <a:blip r:embed="rId4"/>
          <a:stretch>
            <a:fillRect/>
          </a:stretch>
        </p:blipFill>
        <p:spPr>
          <a:xfrm>
            <a:off x="690716" y="1879820"/>
            <a:ext cx="2591025" cy="4023709"/>
          </a:xfrm>
          <a:prstGeom prst="rect">
            <a:avLst/>
          </a:prstGeom>
        </p:spPr>
      </p:pic>
      <p:sp>
        <p:nvSpPr>
          <p:cNvPr id="3" name="TextBox 2">
            <a:extLst>
              <a:ext uri="{FF2B5EF4-FFF2-40B4-BE49-F238E27FC236}">
                <a16:creationId xmlns:a16="http://schemas.microsoft.com/office/drawing/2014/main" id="{219EA4D7-DC2B-2A4F-5CBC-556E656F66D9}"/>
              </a:ext>
            </a:extLst>
          </p:cNvPr>
          <p:cNvSpPr txBox="1"/>
          <p:nvPr/>
        </p:nvSpPr>
        <p:spPr>
          <a:xfrm>
            <a:off x="541182" y="6034113"/>
            <a:ext cx="2890091" cy="646331"/>
          </a:xfrm>
          <a:prstGeom prst="rect">
            <a:avLst/>
          </a:prstGeom>
          <a:noFill/>
        </p:spPr>
        <p:txBody>
          <a:bodyPr wrap="square" rtlCol="0">
            <a:spAutoFit/>
          </a:bodyPr>
          <a:lstStyle/>
          <a:p>
            <a:r>
              <a:rPr lang="en-US" dirty="0"/>
              <a:t>Onboarding Reference Test</a:t>
            </a:r>
          </a:p>
          <a:p>
            <a:r>
              <a:rPr lang="en-US" dirty="0"/>
              <a:t>Illustration of Cards</a:t>
            </a:r>
            <a:endParaRPr lang="ru-RU" dirty="0"/>
          </a:p>
        </p:txBody>
      </p:sp>
      <p:sp>
        <p:nvSpPr>
          <p:cNvPr id="4" name="TextBox 3">
            <a:extLst>
              <a:ext uri="{FF2B5EF4-FFF2-40B4-BE49-F238E27FC236}">
                <a16:creationId xmlns:a16="http://schemas.microsoft.com/office/drawing/2014/main" id="{9B5F50A0-9083-3313-AF2F-E13B0C3C437B}"/>
              </a:ext>
            </a:extLst>
          </p:cNvPr>
          <p:cNvSpPr txBox="1"/>
          <p:nvPr/>
        </p:nvSpPr>
        <p:spPr>
          <a:xfrm>
            <a:off x="4626129" y="6034112"/>
            <a:ext cx="3351919" cy="646331"/>
          </a:xfrm>
          <a:prstGeom prst="rect">
            <a:avLst/>
          </a:prstGeom>
          <a:noFill/>
        </p:spPr>
        <p:txBody>
          <a:bodyPr wrap="square" rtlCol="0">
            <a:spAutoFit/>
          </a:bodyPr>
          <a:lstStyle/>
          <a:p>
            <a:r>
              <a:rPr lang="en-US" dirty="0"/>
              <a:t>Personal Recommendations</a:t>
            </a:r>
          </a:p>
          <a:p>
            <a:r>
              <a:rPr lang="en-US" dirty="0"/>
              <a:t>Illustration of Cards</a:t>
            </a:r>
            <a:endParaRPr lang="ru-KZ" dirty="0"/>
          </a:p>
        </p:txBody>
      </p:sp>
      <p:pic>
        <p:nvPicPr>
          <p:cNvPr id="6" name="Рисунок 5">
            <a:extLst>
              <a:ext uri="{FF2B5EF4-FFF2-40B4-BE49-F238E27FC236}">
                <a16:creationId xmlns:a16="http://schemas.microsoft.com/office/drawing/2014/main" id="{F3DF5CEA-E316-FF7B-3BB8-BEACC31AAA18}"/>
              </a:ext>
            </a:extLst>
          </p:cNvPr>
          <p:cNvPicPr>
            <a:picLocks noChangeAspect="1"/>
          </p:cNvPicPr>
          <p:nvPr/>
        </p:nvPicPr>
        <p:blipFill>
          <a:blip r:embed="rId5"/>
          <a:stretch>
            <a:fillRect/>
          </a:stretch>
        </p:blipFill>
        <p:spPr>
          <a:xfrm>
            <a:off x="8585158" y="2097969"/>
            <a:ext cx="2325629" cy="3587408"/>
          </a:xfrm>
          <a:prstGeom prst="rect">
            <a:avLst/>
          </a:prstGeom>
        </p:spPr>
      </p:pic>
      <p:sp>
        <p:nvSpPr>
          <p:cNvPr id="8" name="TextBox 7">
            <a:extLst>
              <a:ext uri="{FF2B5EF4-FFF2-40B4-BE49-F238E27FC236}">
                <a16:creationId xmlns:a16="http://schemas.microsoft.com/office/drawing/2014/main" id="{17AD3DF1-B919-45F9-2515-CD8CD7E728F2}"/>
              </a:ext>
            </a:extLst>
          </p:cNvPr>
          <p:cNvSpPr txBox="1"/>
          <p:nvPr/>
        </p:nvSpPr>
        <p:spPr>
          <a:xfrm>
            <a:off x="8585158" y="6034112"/>
            <a:ext cx="3488855" cy="923330"/>
          </a:xfrm>
          <a:prstGeom prst="rect">
            <a:avLst/>
          </a:prstGeom>
          <a:noFill/>
        </p:spPr>
        <p:txBody>
          <a:bodyPr wrap="square">
            <a:spAutoFit/>
          </a:bodyPr>
          <a:lstStyle/>
          <a:p>
            <a:r>
              <a:rPr lang="en-US" dirty="0"/>
              <a:t>My Favorite Collections Illustration of Cards</a:t>
            </a:r>
            <a:endParaRPr lang="ru-KZ" dirty="0"/>
          </a:p>
          <a:p>
            <a:endParaRPr lang="ru-KZ" dirty="0"/>
          </a:p>
        </p:txBody>
      </p:sp>
    </p:spTree>
    <p:extLst>
      <p:ext uri="{BB962C8B-B14F-4D97-AF65-F5344CB8AC3E}">
        <p14:creationId xmlns:p14="http://schemas.microsoft.com/office/powerpoint/2010/main" val="4119088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C5FCBB-FE9D-1D70-1792-229C155EF67A}"/>
              </a:ext>
            </a:extLst>
          </p:cNvPr>
          <p:cNvSpPr>
            <a:spLocks noGrp="1"/>
          </p:cNvSpPr>
          <p:nvPr>
            <p:ph type="title"/>
          </p:nvPr>
        </p:nvSpPr>
        <p:spPr/>
        <p:txBody>
          <a:bodyPr/>
          <a:lstStyle/>
          <a:p>
            <a:r>
              <a:rPr lang="en-US" dirty="0"/>
              <a:t>Conclusion</a:t>
            </a:r>
            <a:endParaRPr lang="ru-KZ" dirty="0"/>
          </a:p>
        </p:txBody>
      </p:sp>
      <p:sp>
        <p:nvSpPr>
          <p:cNvPr id="3" name="Объект 2">
            <a:extLst>
              <a:ext uri="{FF2B5EF4-FFF2-40B4-BE49-F238E27FC236}">
                <a16:creationId xmlns:a16="http://schemas.microsoft.com/office/drawing/2014/main" id="{47DC5F94-FCBE-E16A-BB64-9A82AD35F5C2}"/>
              </a:ext>
            </a:extLst>
          </p:cNvPr>
          <p:cNvSpPr>
            <a:spLocks noGrp="1"/>
          </p:cNvSpPr>
          <p:nvPr>
            <p:ph idx="1"/>
          </p:nvPr>
        </p:nvSpPr>
        <p:spPr/>
        <p:txBody>
          <a:bodyPr/>
          <a:lstStyle/>
          <a:p>
            <a:pPr marL="0" indent="0">
              <a:buNone/>
            </a:pPr>
            <a:r>
              <a:rPr lang="en-US" dirty="0"/>
              <a:t>A museum recommendation system was successfully developed to improve user experience and enable personalized interaction with cultural content</a:t>
            </a:r>
            <a:r>
              <a:rPr lang="ru-RU" dirty="0"/>
              <a:t>. </a:t>
            </a:r>
            <a:r>
              <a:rPr lang="en-US" dirty="0"/>
              <a:t>The system addresses the need for digital transformation and personalization in the museum sector</a:t>
            </a:r>
            <a:r>
              <a:rPr lang="ru-RU" dirty="0"/>
              <a:t>. </a:t>
            </a:r>
            <a:r>
              <a:rPr lang="en-US" dirty="0"/>
              <a:t>System provides meaningful and explainable recommendations based on visual similarity</a:t>
            </a:r>
            <a:r>
              <a:rPr lang="ru-RU" dirty="0"/>
              <a:t>. </a:t>
            </a:r>
            <a:r>
              <a:rPr lang="en-US" dirty="0"/>
              <a:t>Effectively solves the cold-start problem using onboarding strategy</a:t>
            </a:r>
            <a:r>
              <a:rPr lang="ru-RU" dirty="0"/>
              <a:t>. </a:t>
            </a:r>
            <a:r>
              <a:rPr lang="en-US" dirty="0"/>
              <a:t>Demonstrates the effectiveness of AI in cultural and museum applications</a:t>
            </a:r>
            <a:r>
              <a:rPr lang="ru-RU" dirty="0"/>
              <a:t>. </a:t>
            </a:r>
            <a:r>
              <a:rPr lang="en-US" dirty="0"/>
              <a:t>The developed system demonstrates the practical value of modern AI techniques in the cultural domain and can serve as a foundation for scalable intelligent museum platforms.</a:t>
            </a:r>
          </a:p>
          <a:p>
            <a:pPr marL="0" indent="0">
              <a:buNone/>
            </a:pPr>
            <a:endParaRPr lang="ru-KZ" dirty="0"/>
          </a:p>
        </p:txBody>
      </p:sp>
      <p:pic>
        <p:nvPicPr>
          <p:cNvPr id="4" name="Рисунок 3" descr="Символика ЕНУ им. Л.Н. Гумилева | Евразийский национальный университет  имени Л.Н. Гумилева">
            <a:extLst>
              <a:ext uri="{FF2B5EF4-FFF2-40B4-BE49-F238E27FC236}">
                <a16:creationId xmlns:a16="http://schemas.microsoft.com/office/drawing/2014/main" id="{D6C3515F-37DB-CAE1-6E14-D0F6B95F9D61}"/>
              </a:ext>
            </a:extLst>
          </p:cNvPr>
          <p:cNvPicPr>
            <a:picLocks noChangeAspect="1"/>
          </p:cNvPicPr>
          <p:nvPr/>
        </p:nvPicPr>
        <p:blipFill>
          <a:blip r:embed="rId2"/>
          <a:stretch>
            <a:fillRect/>
          </a:stretch>
        </p:blipFill>
        <p:spPr>
          <a:xfrm>
            <a:off x="9028171" y="534129"/>
            <a:ext cx="2325629" cy="987554"/>
          </a:xfrm>
          <a:prstGeom prst="rect">
            <a:avLst/>
          </a:prstGeom>
        </p:spPr>
      </p:pic>
    </p:spTree>
    <p:extLst>
      <p:ext uri="{BB962C8B-B14F-4D97-AF65-F5344CB8AC3E}">
        <p14:creationId xmlns:p14="http://schemas.microsoft.com/office/powerpoint/2010/main" val="25977524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959</TotalTime>
  <Words>1632</Words>
  <Application>Microsoft Office PowerPoint</Application>
  <PresentationFormat>Широкоэкранный</PresentationFormat>
  <Paragraphs>198</Paragraphs>
  <Slides>22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22</vt:i4>
      </vt:variant>
    </vt:vector>
  </HeadingPairs>
  <TitlesOfParts>
    <vt:vector size="27" baseType="lpstr">
      <vt:lpstr>Aptos</vt:lpstr>
      <vt:lpstr>Aptos Display</vt:lpstr>
      <vt:lpstr>Arial</vt:lpstr>
      <vt:lpstr>Times New Roman</vt:lpstr>
      <vt:lpstr>Тема Office</vt:lpstr>
      <vt:lpstr>Презентация PowerPoint</vt:lpstr>
      <vt:lpstr>Problem Statement</vt:lpstr>
      <vt:lpstr>Objective</vt:lpstr>
      <vt:lpstr>Thesis Tasks</vt:lpstr>
      <vt:lpstr>Literature Review</vt:lpstr>
      <vt:lpstr>Comparative Analysis of Competitors</vt:lpstr>
      <vt:lpstr>Dataset Selection</vt:lpstr>
      <vt:lpstr>Dataset Selection</vt:lpstr>
      <vt:lpstr>Data Prerocessing</vt:lpstr>
      <vt:lpstr>Image Embeddings</vt:lpstr>
      <vt:lpstr>Презентация PowerPoint</vt:lpstr>
      <vt:lpstr>Cosine Similarity</vt:lpstr>
      <vt:lpstr>Recommendation System </vt:lpstr>
      <vt:lpstr>Recommendation Algorithm Scenario 1</vt:lpstr>
      <vt:lpstr>Recommendation Algorithm Scenario 2</vt:lpstr>
      <vt:lpstr>Onboarding &amp; Cold-Start Solution</vt:lpstr>
      <vt:lpstr>Technology stack and architecture</vt:lpstr>
      <vt:lpstr>System Demonstration</vt:lpstr>
      <vt:lpstr>System Demonstration</vt:lpstr>
      <vt:lpstr>System Demonstration</vt:lpstr>
      <vt:lpstr>System Demonstration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mm kk</dc:creator>
  <cp:lastModifiedBy>mm kk</cp:lastModifiedBy>
  <cp:revision>6</cp:revision>
  <dcterms:created xsi:type="dcterms:W3CDTF">2026-04-20T07:34:07Z</dcterms:created>
  <dcterms:modified xsi:type="dcterms:W3CDTF">2026-06-11T04:25:21Z</dcterms:modified>
</cp:coreProperties>
</file>